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media/image13.svg" ContentType="image/svg+xml"/>
  <Override PartName="/ppt/media/image15.svg" ContentType="image/svg+xml"/>
  <Override PartName="/ppt/media/image19.svg" ContentType="image/svg+xml"/>
  <Override PartName="/ppt/media/image27.svg" ContentType="image/svg+xml"/>
  <Override PartName="/ppt/media/image3.svg" ContentType="image/svg+xml"/>
  <Override PartName="/ppt/media/image36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6858000" cy="9144000"/>
  <p:embeddedFontLst>
    <p:embeddedFont>
      <p:font typeface="Oswald Bold" panose="00000800000000000000"/>
      <p:bold r:id="rId21"/>
    </p:embeddedFont>
    <p:embeddedFont>
      <p:font typeface="Oswald" panose="00000500000000000000"/>
      <p:regular r:id="rId22"/>
    </p:embeddedFont>
    <p:embeddedFont>
      <p:font typeface="DM Sans Bold"/>
      <p:bold r:id="rId23"/>
    </p:embeddedFont>
    <p:embeddedFont>
      <p:font typeface="DM Sans"/>
      <p:regular r:id="rId24"/>
    </p:embeddedFont>
    <p:embeddedFont>
      <p:font typeface="Calibri" panose="020F0502020204030204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0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7.jpeg"/><Relationship Id="rId1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7.jpeg"/><Relationship Id="rId1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2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5.svg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0.png"/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27.svg"/><Relationship Id="rId10" Type="http://schemas.openxmlformats.org/officeDocument/2006/relationships/slideLayout" Target="../slideLayouts/slideLayout7.xml"/><Relationship Id="rId1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1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2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3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4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Relationship Id="rId3" Type="http://schemas.openxmlformats.org/officeDocument/2006/relationships/image" Target="../media/image1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5.svg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41.svg"/><Relationship Id="rId8" Type="http://schemas.openxmlformats.org/officeDocument/2006/relationships/image" Target="../media/image40.png"/><Relationship Id="rId7" Type="http://schemas.openxmlformats.org/officeDocument/2006/relationships/image" Target="../media/image39.svg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15.svg"/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21.png"/><Relationship Id="rId17" Type="http://schemas.openxmlformats.org/officeDocument/2006/relationships/image" Target="../media/image49.svg"/><Relationship Id="rId16" Type="http://schemas.openxmlformats.org/officeDocument/2006/relationships/image" Target="../media/image48.png"/><Relationship Id="rId15" Type="http://schemas.openxmlformats.org/officeDocument/2006/relationships/image" Target="../media/image47.svg"/><Relationship Id="rId14" Type="http://schemas.openxmlformats.org/officeDocument/2006/relationships/image" Target="../media/image46.png"/><Relationship Id="rId13" Type="http://schemas.openxmlformats.org/officeDocument/2006/relationships/image" Target="../media/image45.svg"/><Relationship Id="rId12" Type="http://schemas.openxmlformats.org/officeDocument/2006/relationships/image" Target="../media/image44.png"/><Relationship Id="rId11" Type="http://schemas.openxmlformats.org/officeDocument/2006/relationships/image" Target="../media/image43.svg"/><Relationship Id="rId10" Type="http://schemas.openxmlformats.org/officeDocument/2006/relationships/image" Target="../media/image42.png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6000">
            <a:off x="-8963" y="-15951"/>
            <a:ext cx="18305926" cy="10318903"/>
            <a:chOff x="0" y="0"/>
            <a:chExt cx="24407901" cy="137585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7876" cy="13758545"/>
            </a:xfrm>
            <a:custGeom>
              <a:avLst/>
              <a:gdLst/>
              <a:ahLst/>
              <a:cxnLst/>
              <a:rect l="l" t="t" r="r" b="b"/>
              <a:pathLst>
                <a:path w="24407876" h="13758545">
                  <a:moveTo>
                    <a:pt x="23876" y="0"/>
                  </a:moveTo>
                  <a:lnTo>
                    <a:pt x="24407876" y="42545"/>
                  </a:lnTo>
                  <a:lnTo>
                    <a:pt x="24384000" y="13758545"/>
                  </a:lnTo>
                  <a:lnTo>
                    <a:pt x="0" y="13716000"/>
                  </a:lnTo>
                  <a:lnTo>
                    <a:pt x="23876" y="0"/>
                  </a:lnTo>
                  <a:close/>
                </a:path>
              </a:pathLst>
            </a:custGeom>
            <a:blipFill>
              <a:blip r:embed="rId1"/>
              <a:stretch>
                <a:fillRect l="-1859" r="-1859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>
            <a:off x="-369227" y="9605702"/>
            <a:ext cx="10580338" cy="776130"/>
          </a:xfrm>
          <a:custGeom>
            <a:avLst/>
            <a:gdLst/>
            <a:ahLst/>
            <a:cxnLst/>
            <a:rect l="l" t="t" r="r" b="b"/>
            <a:pathLst>
              <a:path w="10580338" h="776130">
                <a:moveTo>
                  <a:pt x="0" y="0"/>
                </a:moveTo>
                <a:lnTo>
                  <a:pt x="10580338" y="0"/>
                </a:lnTo>
                <a:lnTo>
                  <a:pt x="10580338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7494478" y="8388536"/>
            <a:ext cx="3796928" cy="3796928"/>
          </a:xfrm>
          <a:custGeom>
            <a:avLst/>
            <a:gdLst/>
            <a:ahLst/>
            <a:cxnLst/>
            <a:rect l="l" t="t" r="r" b="b"/>
            <a:pathLst>
              <a:path w="3796928" h="3796928">
                <a:moveTo>
                  <a:pt x="0" y="0"/>
                </a:moveTo>
                <a:lnTo>
                  <a:pt x="3796928" y="0"/>
                </a:lnTo>
                <a:lnTo>
                  <a:pt x="3796928" y="3796928"/>
                </a:lnTo>
                <a:lnTo>
                  <a:pt x="0" y="3796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1108173"/>
            <a:ext cx="7833117" cy="3039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05"/>
              </a:lnSpc>
            </a:pPr>
            <a:r>
              <a:rPr lang="en-US" sz="7575" b="1">
                <a:solidFill>
                  <a:srgbClr val="000000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rPr>
              <a:t>SMART &amp; INVENTORY</a:t>
            </a:r>
            <a:endParaRPr lang="en-US" sz="7575" b="1">
              <a:solidFill>
                <a:srgbClr val="000000"/>
              </a:solidFill>
              <a:latin typeface="Oswald Bold" panose="00000800000000000000"/>
              <a:ea typeface="Oswald Bold" panose="00000800000000000000"/>
              <a:cs typeface="Oswald Bold" panose="00000800000000000000"/>
              <a:sym typeface="Oswald Bold" panose="00000800000000000000"/>
            </a:endParaRPr>
          </a:p>
          <a:p>
            <a:pPr algn="l">
              <a:lnSpc>
                <a:spcPts val="8105"/>
              </a:lnSpc>
            </a:pPr>
            <a:r>
              <a:rPr lang="en-US" sz="7575" b="1">
                <a:solidFill>
                  <a:srgbClr val="000000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rPr>
              <a:t>SUPPLY CHAIN</a:t>
            </a:r>
            <a:endParaRPr lang="en-US" sz="7575" b="1">
              <a:solidFill>
                <a:srgbClr val="000000"/>
              </a:solidFill>
              <a:latin typeface="Oswald Bold" panose="00000800000000000000"/>
              <a:ea typeface="Oswald Bold" panose="00000800000000000000"/>
              <a:cs typeface="Oswald Bold" panose="00000800000000000000"/>
              <a:sym typeface="Oswald Bold" panose="0000080000000000000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00944" y="4319354"/>
            <a:ext cx="7833117" cy="982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05"/>
              </a:lnSpc>
            </a:pPr>
            <a:r>
              <a:rPr lang="en-US" sz="757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MANAGEMENT</a:t>
            </a:r>
            <a:endParaRPr lang="en-US" sz="7575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972932" y="6802746"/>
            <a:ext cx="5102662" cy="63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Presentation By:</a:t>
            </a:r>
            <a:endParaRPr lang="en-US" sz="3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972932" y="7481493"/>
            <a:ext cx="6049971" cy="17891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Rumit Hasan Foysal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Akash Ahmed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Istiak Ahmed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Sadia Farjana Mitu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3400" y="6073140"/>
            <a:ext cx="4332605" cy="676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3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Presentation To:</a:t>
            </a:r>
            <a:endParaRPr lang="en-US" sz="3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00760" y="6862445"/>
            <a:ext cx="6050280" cy="1365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Tasfia Tabassum Faija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just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Lecturer of CSE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just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Northern University Bangladesh</a:t>
            </a:r>
            <a:endParaRPr lang="en-US" sz="25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10378835" y="522684"/>
            <a:ext cx="6103048" cy="6454097"/>
            <a:chOff x="0" y="0"/>
            <a:chExt cx="8137397" cy="8605463"/>
          </a:xfrm>
        </p:grpSpPr>
        <p:sp>
          <p:nvSpPr>
            <p:cNvPr id="13" name="Freeform 13"/>
            <p:cNvSpPr/>
            <p:nvPr/>
          </p:nvSpPr>
          <p:spPr>
            <a:xfrm>
              <a:off x="0" y="1356648"/>
              <a:ext cx="2681629" cy="6012691"/>
            </a:xfrm>
            <a:custGeom>
              <a:avLst/>
              <a:gdLst/>
              <a:ahLst/>
              <a:cxnLst/>
              <a:rect l="l" t="t" r="r" b="b"/>
              <a:pathLst>
                <a:path w="2681629" h="6012691">
                  <a:moveTo>
                    <a:pt x="0" y="0"/>
                  </a:moveTo>
                  <a:lnTo>
                    <a:pt x="2681629" y="0"/>
                  </a:lnTo>
                  <a:lnTo>
                    <a:pt x="2681629" y="6012691"/>
                  </a:lnTo>
                  <a:lnTo>
                    <a:pt x="0" y="6012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93311" r="-228484" b="-2024"/>
              </a:stretch>
            </a:blipFill>
          </p:spPr>
        </p:sp>
        <p:sp>
          <p:nvSpPr>
            <p:cNvPr id="14" name="Freeform 14"/>
            <p:cNvSpPr/>
            <p:nvPr/>
          </p:nvSpPr>
          <p:spPr>
            <a:xfrm>
              <a:off x="2159094" y="0"/>
              <a:ext cx="3452039" cy="4362994"/>
            </a:xfrm>
            <a:custGeom>
              <a:avLst/>
              <a:gdLst/>
              <a:ahLst/>
              <a:cxnLst/>
              <a:rect l="l" t="t" r="r" b="b"/>
              <a:pathLst>
                <a:path w="3452039" h="4362994">
                  <a:moveTo>
                    <a:pt x="0" y="0"/>
                  </a:moveTo>
                  <a:lnTo>
                    <a:pt x="3452039" y="0"/>
                  </a:lnTo>
                  <a:lnTo>
                    <a:pt x="3452039" y="4362994"/>
                  </a:lnTo>
                  <a:lnTo>
                    <a:pt x="0" y="43629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15" name="Freeform 15"/>
            <p:cNvSpPr/>
            <p:nvPr/>
          </p:nvSpPr>
          <p:spPr>
            <a:xfrm>
              <a:off x="5014201" y="1155241"/>
              <a:ext cx="3123196" cy="6214098"/>
            </a:xfrm>
            <a:custGeom>
              <a:avLst/>
              <a:gdLst/>
              <a:ahLst/>
              <a:cxnLst/>
              <a:rect l="l" t="t" r="r" b="b"/>
              <a:pathLst>
                <a:path w="3123196" h="6214098">
                  <a:moveTo>
                    <a:pt x="0" y="0"/>
                  </a:moveTo>
                  <a:lnTo>
                    <a:pt x="3123196" y="0"/>
                  </a:lnTo>
                  <a:lnTo>
                    <a:pt x="3123196" y="6214098"/>
                  </a:lnTo>
                  <a:lnTo>
                    <a:pt x="0" y="6214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3223" t="-81284" b="-2097"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2681629" y="3327250"/>
              <a:ext cx="2564101" cy="5278213"/>
            </a:xfrm>
            <a:custGeom>
              <a:avLst/>
              <a:gdLst/>
              <a:ahLst/>
              <a:cxnLst/>
              <a:rect l="l" t="t" r="r" b="b"/>
              <a:pathLst>
                <a:path w="2564101" h="5278213">
                  <a:moveTo>
                    <a:pt x="0" y="0"/>
                  </a:moveTo>
                  <a:lnTo>
                    <a:pt x="2564100" y="0"/>
                  </a:lnTo>
                  <a:lnTo>
                    <a:pt x="2564100" y="5278213"/>
                  </a:lnTo>
                  <a:lnTo>
                    <a:pt x="0" y="52782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99736" t="-102774" r="-112833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 rot="0">
            <a:off x="0" y="5773883"/>
            <a:ext cx="18288000" cy="4607949"/>
            <a:chOff x="0" y="0"/>
            <a:chExt cx="24384000" cy="614393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6143879"/>
            </a:xfrm>
            <a:custGeom>
              <a:avLst/>
              <a:gdLst/>
              <a:ahLst/>
              <a:cxnLst/>
              <a:rect l="l" t="t" r="r" b="b"/>
              <a:pathLst>
                <a:path w="24384000" h="6143879">
                  <a:moveTo>
                    <a:pt x="0" y="0"/>
                  </a:moveTo>
                  <a:lnTo>
                    <a:pt x="24384000" y="0"/>
                  </a:lnTo>
                  <a:lnTo>
                    <a:pt x="24384000" y="6143879"/>
                  </a:lnTo>
                  <a:lnTo>
                    <a:pt x="0" y="614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t="-67628" b="-17451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4307596" y="1143000"/>
            <a:ext cx="9672807" cy="1872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70"/>
              </a:lnSpc>
            </a:pPr>
            <a:r>
              <a:rPr lang="en-US" sz="682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Smart Inventory &amp; Supply Chain Management System</a:t>
            </a:r>
            <a:endParaRPr lang="en-US" sz="682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827230" y="3897566"/>
            <a:ext cx="13156615" cy="1245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0"/>
              </a:lnSpc>
            </a:pPr>
            <a:r>
              <a:rPr lang="en-US" sz="232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The Smart Inventory &amp; Supply Chain Management System streamlines stock control and supply processes by ensuring accurate tracking, reducing costs, and improving efficiency for timely product delivery.</a:t>
            </a:r>
            <a:endParaRPr lang="en-US" sz="232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6" name="Group 6"/>
          <p:cNvGrpSpPr/>
          <p:nvPr/>
        </p:nvGrpSpPr>
        <p:grpSpPr>
          <a:xfrm rot="0">
            <a:off x="13327010" y="-765197"/>
            <a:ext cx="5313671" cy="5108764"/>
            <a:chOff x="0" y="0"/>
            <a:chExt cx="7084895" cy="6811685"/>
          </a:xfrm>
        </p:grpSpPr>
        <p:sp>
          <p:nvSpPr>
            <p:cNvPr id="7" name="Freeform 7"/>
            <p:cNvSpPr/>
            <p:nvPr/>
          </p:nvSpPr>
          <p:spPr>
            <a:xfrm flipV="1">
              <a:off x="0" y="0"/>
              <a:ext cx="7084949" cy="6811645"/>
            </a:xfrm>
            <a:custGeom>
              <a:avLst/>
              <a:gdLst/>
              <a:ahLst/>
              <a:cxnLst/>
              <a:rect l="l" t="t" r="r" b="b"/>
              <a:pathLst>
                <a:path w="7084949" h="6811645">
                  <a:moveTo>
                    <a:pt x="0" y="6811645"/>
                  </a:moveTo>
                  <a:lnTo>
                    <a:pt x="7084949" y="6811645"/>
                  </a:lnTo>
                  <a:lnTo>
                    <a:pt x="7084949" y="0"/>
                  </a:lnTo>
                  <a:lnTo>
                    <a:pt x="0" y="0"/>
                  </a:lnTo>
                  <a:lnTo>
                    <a:pt x="0" y="6811645"/>
                  </a:lnTo>
                  <a:close/>
                </a:path>
              </a:pathLst>
            </a:custGeom>
            <a:blipFill>
              <a:blip r:embed="rId2"/>
              <a:stretch>
                <a:fillRect l="-22107" r="-22106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 rot="0">
            <a:off x="-352681" y="-765197"/>
            <a:ext cx="5313671" cy="5108764"/>
            <a:chOff x="0" y="0"/>
            <a:chExt cx="7084895" cy="6811685"/>
          </a:xfrm>
        </p:grpSpPr>
        <p:sp>
          <p:nvSpPr>
            <p:cNvPr id="9" name="Freeform 9"/>
            <p:cNvSpPr/>
            <p:nvPr/>
          </p:nvSpPr>
          <p:spPr>
            <a:xfrm flipH="1" flipV="1">
              <a:off x="0" y="0"/>
              <a:ext cx="7084949" cy="6811645"/>
            </a:xfrm>
            <a:custGeom>
              <a:avLst/>
              <a:gdLst/>
              <a:ahLst/>
              <a:cxnLst/>
              <a:rect l="l" t="t" r="r" b="b"/>
              <a:pathLst>
                <a:path w="7084949" h="6811645">
                  <a:moveTo>
                    <a:pt x="7084949" y="6811645"/>
                  </a:moveTo>
                  <a:lnTo>
                    <a:pt x="0" y="6811645"/>
                  </a:lnTo>
                  <a:lnTo>
                    <a:pt x="0" y="0"/>
                  </a:lnTo>
                  <a:lnTo>
                    <a:pt x="7084949" y="0"/>
                  </a:lnTo>
                  <a:lnTo>
                    <a:pt x="7084949" y="6811645"/>
                  </a:lnTo>
                  <a:close/>
                </a:path>
              </a:pathLst>
            </a:custGeom>
            <a:blipFill>
              <a:blip r:embed="rId2"/>
              <a:stretch>
                <a:fillRect l="-22107" r="-22106"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646396" y="7067195"/>
            <a:ext cx="11116569" cy="4692747"/>
            <a:chOff x="0" y="0"/>
            <a:chExt cx="14822092" cy="6256996"/>
          </a:xfrm>
        </p:grpSpPr>
        <p:sp>
          <p:nvSpPr>
            <p:cNvPr id="3" name="Freeform 3"/>
            <p:cNvSpPr/>
            <p:nvPr/>
          </p:nvSpPr>
          <p:spPr>
            <a:xfrm flipV="1">
              <a:off x="0" y="0"/>
              <a:ext cx="14822043" cy="6257036"/>
            </a:xfrm>
            <a:custGeom>
              <a:avLst/>
              <a:gdLst/>
              <a:ahLst/>
              <a:cxnLst/>
              <a:rect l="l" t="t" r="r" b="b"/>
              <a:pathLst>
                <a:path w="14822043" h="6257036">
                  <a:moveTo>
                    <a:pt x="0" y="6257036"/>
                  </a:moveTo>
                  <a:lnTo>
                    <a:pt x="14822043" y="6257036"/>
                  </a:lnTo>
                  <a:lnTo>
                    <a:pt x="14822043" y="0"/>
                  </a:lnTo>
                  <a:lnTo>
                    <a:pt x="0" y="0"/>
                  </a:lnTo>
                  <a:lnTo>
                    <a:pt x="0" y="6257036"/>
                  </a:lnTo>
                  <a:close/>
                </a:path>
              </a:pathLst>
            </a:custGeom>
            <a:blipFill>
              <a:blip r:embed="rId1"/>
              <a:stretch>
                <a:fillRect l="-17019" r="-17019"/>
              </a:stretch>
            </a:blip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 rot="0">
            <a:off x="12121361" y="0"/>
            <a:ext cx="6166639" cy="10287000"/>
            <a:chOff x="0" y="0"/>
            <a:chExt cx="8222185" cy="1371600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8222234" cy="13716000"/>
            </a:xfrm>
            <a:custGeom>
              <a:avLst/>
              <a:gdLst/>
              <a:ahLst/>
              <a:cxnLst/>
              <a:rect l="l" t="t" r="r" b="b"/>
              <a:pathLst>
                <a:path w="8222234" h="13716000">
                  <a:moveTo>
                    <a:pt x="8222234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8222234" y="13716000"/>
                  </a:lnTo>
                  <a:lnTo>
                    <a:pt x="8222234" y="0"/>
                  </a:lnTo>
                  <a:close/>
                </a:path>
              </a:pathLst>
            </a:custGeom>
            <a:blipFill>
              <a:blip r:embed="rId2"/>
              <a:stretch>
                <a:fillRect l="-84186" r="-65988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0771" y="1020438"/>
            <a:ext cx="717737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Problem &amp; Soulation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22656" y="2532384"/>
            <a:ext cx="8423740" cy="494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0"/>
              </a:lnSpc>
            </a:pPr>
            <a:r>
              <a:rPr lang="en-US" sz="267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Challenges in Traditional Inventory Management</a:t>
            </a:r>
            <a:endParaRPr lang="en-US" sz="267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70771" y="3345909"/>
            <a:ext cx="9998009" cy="3466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6735" lvl="2" indent="-182245" algn="just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Manual stock tracking → prone to errors, mismatched records, and slow decision-making.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46735" lvl="2" indent="-182245" algn="just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Lack of transparency → difficult to monitor inbound and outbound shipments effectively.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46735" lvl="2" indent="-182245" algn="just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Poor reporting → managers miss timely insights for decision-making.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646396" y="7067195"/>
            <a:ext cx="11116569" cy="4692747"/>
            <a:chOff x="0" y="0"/>
            <a:chExt cx="14822092" cy="6256996"/>
          </a:xfrm>
        </p:grpSpPr>
        <p:sp>
          <p:nvSpPr>
            <p:cNvPr id="3" name="Freeform 3"/>
            <p:cNvSpPr/>
            <p:nvPr/>
          </p:nvSpPr>
          <p:spPr>
            <a:xfrm flipV="1">
              <a:off x="0" y="0"/>
              <a:ext cx="14822043" cy="6257036"/>
            </a:xfrm>
            <a:custGeom>
              <a:avLst/>
              <a:gdLst/>
              <a:ahLst/>
              <a:cxnLst/>
              <a:rect l="l" t="t" r="r" b="b"/>
              <a:pathLst>
                <a:path w="14822043" h="6257036">
                  <a:moveTo>
                    <a:pt x="0" y="6257036"/>
                  </a:moveTo>
                  <a:lnTo>
                    <a:pt x="14822043" y="6257036"/>
                  </a:lnTo>
                  <a:lnTo>
                    <a:pt x="14822043" y="0"/>
                  </a:lnTo>
                  <a:lnTo>
                    <a:pt x="0" y="0"/>
                  </a:lnTo>
                  <a:lnTo>
                    <a:pt x="0" y="6257036"/>
                  </a:lnTo>
                  <a:close/>
                </a:path>
              </a:pathLst>
            </a:custGeom>
            <a:blipFill>
              <a:blip r:embed="rId1"/>
              <a:stretch>
                <a:fillRect l="-17019" r="-17019"/>
              </a:stretch>
            </a:blip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 rot="0">
            <a:off x="12121361" y="0"/>
            <a:ext cx="6166639" cy="10287000"/>
            <a:chOff x="0" y="0"/>
            <a:chExt cx="8222185" cy="1371600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8222234" cy="13716000"/>
            </a:xfrm>
            <a:custGeom>
              <a:avLst/>
              <a:gdLst/>
              <a:ahLst/>
              <a:cxnLst/>
              <a:rect l="l" t="t" r="r" b="b"/>
              <a:pathLst>
                <a:path w="8222234" h="13716000">
                  <a:moveTo>
                    <a:pt x="8222234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8222234" y="13716000"/>
                  </a:lnTo>
                  <a:lnTo>
                    <a:pt x="8222234" y="0"/>
                  </a:lnTo>
                  <a:close/>
                </a:path>
              </a:pathLst>
            </a:custGeom>
            <a:blipFill>
              <a:blip r:embed="rId2"/>
              <a:stretch>
                <a:fillRect l="-84186" r="-65988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0771" y="1020438"/>
            <a:ext cx="717737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Problem &amp; Soulation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82553" y="2745691"/>
            <a:ext cx="7768162" cy="482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0"/>
              </a:lnSpc>
            </a:pPr>
            <a:r>
              <a:rPr lang="en-US" sz="267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Our Solution</a:t>
            </a:r>
            <a:endParaRPr lang="en-US" sz="267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415" y="3286583"/>
            <a:ext cx="10296969" cy="4574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4990" lvl="2" indent="-18478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Automated logs → inbound and outbound stock tracking with accuracy.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Integration → suppliers and shipments connected for better transparency.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Real-time insights → queries and triggers provide up-to-date reports.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Improved reliability → system ensures professionalism compared to manual methods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57377" y="-180826"/>
            <a:ext cx="12586083" cy="10581884"/>
          </a:xfrm>
          <a:custGeom>
            <a:avLst/>
            <a:gdLst/>
            <a:ahLst/>
            <a:cxnLst/>
            <a:rect l="l" t="t" r="r" b="b"/>
            <a:pathLst>
              <a:path w="12586083" h="10581884">
                <a:moveTo>
                  <a:pt x="0" y="0"/>
                </a:moveTo>
                <a:lnTo>
                  <a:pt x="12586083" y="0"/>
                </a:lnTo>
                <a:lnTo>
                  <a:pt x="12586083" y="10581884"/>
                </a:lnTo>
                <a:lnTo>
                  <a:pt x="0" y="1058188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92285" y="1839979"/>
            <a:ext cx="10884046" cy="2011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Key Tables</a:t>
            </a:r>
            <a:endParaRPr lang="en-US" sz="2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Users, Suppliers, Products, order, Shipments, Supplier_Shipments, Inventory_Logs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73235" y="4324092"/>
            <a:ext cx="7553920" cy="323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Some important relationships include: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Users - Orders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Products - Suppliers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Orders - Shipments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Inventory logs track every change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7747686" y="3185143"/>
            <a:ext cx="8806701" cy="4511031"/>
            <a:chOff x="0" y="0"/>
            <a:chExt cx="12488940" cy="6397173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2488926" cy="6397117"/>
            </a:xfrm>
            <a:custGeom>
              <a:avLst/>
              <a:gdLst/>
              <a:ahLst/>
              <a:cxnLst/>
              <a:rect l="l" t="t" r="r" b="b"/>
              <a:pathLst>
                <a:path w="12488926" h="6397117">
                  <a:moveTo>
                    <a:pt x="0" y="0"/>
                  </a:moveTo>
                  <a:lnTo>
                    <a:pt x="12488926" y="0"/>
                  </a:lnTo>
                  <a:lnTo>
                    <a:pt x="12488926" y="6397117"/>
                  </a:lnTo>
                  <a:lnTo>
                    <a:pt x="0" y="6397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650" b="-65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684023" y="852058"/>
            <a:ext cx="830313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Database Desig Overview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44660" y="7991210"/>
            <a:ext cx="10629892" cy="79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Why its professional: normalized, scalable, enforces integrity</a:t>
            </a:r>
            <a:endParaRPr lang="en-US" sz="2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1015730" y="0"/>
            <a:ext cx="11582836" cy="6681447"/>
            <a:chOff x="0" y="0"/>
            <a:chExt cx="15443781" cy="890859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43836" cy="8908542"/>
            </a:xfrm>
            <a:custGeom>
              <a:avLst/>
              <a:gdLst/>
              <a:ahLst/>
              <a:cxnLst/>
              <a:rect l="l" t="t" r="r" b="b"/>
              <a:pathLst>
                <a:path w="15443836" h="8908542">
                  <a:moveTo>
                    <a:pt x="0" y="0"/>
                  </a:moveTo>
                  <a:lnTo>
                    <a:pt x="15443836" y="0"/>
                  </a:lnTo>
                  <a:lnTo>
                    <a:pt x="15443836" y="8908542"/>
                  </a:lnTo>
                  <a:lnTo>
                    <a:pt x="0" y="89085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41579" r="-4157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12337133" y="964152"/>
            <a:ext cx="8940030" cy="8940030"/>
            <a:chOff x="0" y="0"/>
            <a:chExt cx="11920040" cy="119200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2"/>
              <a:stretch>
                <a:fillRect l="-24999" r="-2499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 rot="0">
            <a:off x="7550451" y="5733864"/>
            <a:ext cx="8940030" cy="8940030"/>
            <a:chOff x="0" y="0"/>
            <a:chExt cx="11920040" cy="119200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3"/>
              <a:stretch>
                <a:fillRect l="-24906" r="-24906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90600" y="1381028"/>
            <a:ext cx="976064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Advanced Database Features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48461" y="2576830"/>
            <a:ext cx="10267269" cy="4574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View 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Example: product_stock_view (combines product + supplier info)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Triggers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auto update stock levels when inbound / outbound happens.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Procedures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place_order, receive_shipment for business automation.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Constraints &amp; Keys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- Ensure data integrity.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510870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09811" y="2638560"/>
            <a:ext cx="9749496" cy="3970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JOIN example (LEFT OUTER, NATRUAL)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Procedure execution (Exec place_order (3,5,2))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Trigger exection &amp; auto stock updates.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SQLcl - “We even enabled JSON outputs to prove adaptability whith modern apps.”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“This is how real systems operate under the hood.”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 rot="0">
            <a:off x="9601620" y="1207793"/>
            <a:ext cx="7041209" cy="3147284"/>
            <a:chOff x="0" y="0"/>
            <a:chExt cx="11419007" cy="5104075"/>
          </a:xfrm>
        </p:grpSpPr>
        <p:sp>
          <p:nvSpPr>
            <p:cNvPr id="6" name="Freeform 6" descr="A screen shot of a computer code&#10;&#10;AI-generated content may be incorrect."/>
            <p:cNvSpPr/>
            <p:nvPr/>
          </p:nvSpPr>
          <p:spPr>
            <a:xfrm>
              <a:off x="0" y="0"/>
              <a:ext cx="11418951" cy="5104130"/>
            </a:xfrm>
            <a:custGeom>
              <a:avLst/>
              <a:gdLst/>
              <a:ahLst/>
              <a:cxnLst/>
              <a:rect l="l" t="t" r="r" b="b"/>
              <a:pathLst>
                <a:path w="11418951" h="5104130">
                  <a:moveTo>
                    <a:pt x="0" y="0"/>
                  </a:moveTo>
                  <a:lnTo>
                    <a:pt x="11418951" y="0"/>
                  </a:lnTo>
                  <a:lnTo>
                    <a:pt x="11418951" y="5104130"/>
                  </a:lnTo>
                  <a:lnTo>
                    <a:pt x="0" y="51041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09" r="-710" b="1"/>
              </a:stretch>
            </a:blipFill>
          </p:spPr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9573045" y="5689117"/>
            <a:ext cx="7328618" cy="3268057"/>
            <a:chOff x="0" y="0"/>
            <a:chExt cx="11391900" cy="5080000"/>
          </a:xfrm>
        </p:grpSpPr>
        <p:sp>
          <p:nvSpPr>
            <p:cNvPr id="8" name="Freeform 8" descr="A screen shot of a computer&#10;&#10;AI-generated content may be incorrect."/>
            <p:cNvSpPr/>
            <p:nvPr/>
          </p:nvSpPr>
          <p:spPr>
            <a:xfrm>
              <a:off x="0" y="0"/>
              <a:ext cx="11391900" cy="5080000"/>
            </a:xfrm>
            <a:custGeom>
              <a:avLst/>
              <a:gdLst/>
              <a:ahLst/>
              <a:cxnLst/>
              <a:rect l="l" t="t" r="r" b="b"/>
              <a:pathLst>
                <a:path w="11391900" h="5080000">
                  <a:moveTo>
                    <a:pt x="0" y="0"/>
                  </a:moveTo>
                  <a:lnTo>
                    <a:pt x="11391900" y="0"/>
                  </a:lnTo>
                  <a:lnTo>
                    <a:pt x="11391900" y="5080000"/>
                  </a:lnTo>
                  <a:lnTo>
                    <a:pt x="0" y="508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066800" y="1152525"/>
            <a:ext cx="7284085" cy="92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Oueries Demonstration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69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53205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914524" y="2194928"/>
            <a:ext cx="2291507" cy="1268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Home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4030357" y="2277936"/>
            <a:ext cx="9798575" cy="4530393"/>
            <a:chOff x="0" y="0"/>
            <a:chExt cx="12632521" cy="5840675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2632563" cy="5840730"/>
            </a:xfrm>
            <a:custGeom>
              <a:avLst/>
              <a:gdLst/>
              <a:ahLst/>
              <a:cxnLst/>
              <a:rect l="l" t="t" r="r" b="b"/>
              <a:pathLst>
                <a:path w="12632563" h="5840730">
                  <a:moveTo>
                    <a:pt x="0" y="0"/>
                  </a:moveTo>
                  <a:lnTo>
                    <a:pt x="12632563" y="0"/>
                  </a:lnTo>
                  <a:lnTo>
                    <a:pt x="12632563" y="5840730"/>
                  </a:lnTo>
                  <a:lnTo>
                    <a:pt x="0" y="5840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241" b="-240"/>
              </a:stretch>
            </a:blipFill>
          </p:spPr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 rot="0">
            <a:off x="8757677" y="7058492"/>
            <a:ext cx="5061731" cy="2548205"/>
            <a:chOff x="0" y="0"/>
            <a:chExt cx="12975420" cy="6532160"/>
          </a:xfrm>
        </p:grpSpPr>
        <p:sp>
          <p:nvSpPr>
            <p:cNvPr id="10" name="Freeform 10" descr="A screenshot of a computer&#10;&#10;AI-generated content may be incorrect."/>
            <p:cNvSpPr/>
            <p:nvPr/>
          </p:nvSpPr>
          <p:spPr>
            <a:xfrm>
              <a:off x="0" y="0"/>
              <a:ext cx="12975463" cy="6532118"/>
            </a:xfrm>
            <a:custGeom>
              <a:avLst/>
              <a:gdLst/>
              <a:ahLst/>
              <a:cxnLst/>
              <a:rect l="l" t="t" r="r" b="b"/>
              <a:pathLst>
                <a:path w="12975463" h="6532118">
                  <a:moveTo>
                    <a:pt x="0" y="0"/>
                  </a:moveTo>
                  <a:lnTo>
                    <a:pt x="12975463" y="0"/>
                  </a:lnTo>
                  <a:lnTo>
                    <a:pt x="12975463" y="6532118"/>
                  </a:lnTo>
                  <a:lnTo>
                    <a:pt x="0" y="6532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17" r="-117"/>
              </a:stretch>
            </a:blipFill>
          </p:spPr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0">
            <a:off x="3922423" y="7058492"/>
            <a:ext cx="4854303" cy="2491929"/>
            <a:chOff x="0" y="0"/>
            <a:chExt cx="11441944" cy="5873656"/>
          </a:xfrm>
        </p:grpSpPr>
        <p:sp>
          <p:nvSpPr>
            <p:cNvPr id="12" name="Freeform 12" descr="A screenshot of a contact form&#10;&#10;AI-generated content may be incorrect."/>
            <p:cNvSpPr/>
            <p:nvPr/>
          </p:nvSpPr>
          <p:spPr>
            <a:xfrm>
              <a:off x="0" y="0"/>
              <a:ext cx="11441938" cy="5873623"/>
            </a:xfrm>
            <a:custGeom>
              <a:avLst/>
              <a:gdLst/>
              <a:ahLst/>
              <a:cxnLst/>
              <a:rect l="l" t="t" r="r" b="b"/>
              <a:pathLst>
                <a:path w="11441938" h="5873623">
                  <a:moveTo>
                    <a:pt x="0" y="0"/>
                  </a:moveTo>
                  <a:lnTo>
                    <a:pt x="11441938" y="0"/>
                  </a:lnTo>
                  <a:lnTo>
                    <a:pt x="11441938" y="5873623"/>
                  </a:lnTo>
                  <a:lnTo>
                    <a:pt x="0" y="5873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276" r="-277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76401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3150235" cy="676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Product list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3665195" y="3534054"/>
            <a:ext cx="10957611" cy="4437518"/>
            <a:chOff x="0" y="0"/>
            <a:chExt cx="21306241" cy="8628417"/>
          </a:xfrm>
        </p:grpSpPr>
        <p:sp>
          <p:nvSpPr>
            <p:cNvPr id="8" name="Freeform 8" descr="A screenshot of a price list&#10;&#10;AI-generated content may be incorrect."/>
            <p:cNvSpPr/>
            <p:nvPr/>
          </p:nvSpPr>
          <p:spPr>
            <a:xfrm>
              <a:off x="0" y="0"/>
              <a:ext cx="21306282" cy="8628380"/>
            </a:xfrm>
            <a:custGeom>
              <a:avLst/>
              <a:gdLst/>
              <a:ahLst/>
              <a:cxnLst/>
              <a:rect l="l" t="t" r="r" b="b"/>
              <a:pathLst>
                <a:path w="21306282" h="8628380">
                  <a:moveTo>
                    <a:pt x="0" y="0"/>
                  </a:moveTo>
                  <a:lnTo>
                    <a:pt x="21306282" y="0"/>
                  </a:lnTo>
                  <a:lnTo>
                    <a:pt x="21306282" y="8628380"/>
                  </a:lnTo>
                  <a:lnTo>
                    <a:pt x="0" y="8628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28" r="-328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53159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2090847"/>
            <a:ext cx="6454926" cy="652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Inventory Management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2953916" y="3076700"/>
            <a:ext cx="11892946" cy="5627432"/>
            <a:chOff x="0" y="0"/>
            <a:chExt cx="19646900" cy="9296400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9646900" cy="9296400"/>
            </a:xfrm>
            <a:custGeom>
              <a:avLst/>
              <a:gdLst/>
              <a:ahLst/>
              <a:cxnLst/>
              <a:rect l="l" t="t" r="r" b="b"/>
              <a:pathLst>
                <a:path w="19646900" h="9296400">
                  <a:moveTo>
                    <a:pt x="0" y="0"/>
                  </a:moveTo>
                  <a:lnTo>
                    <a:pt x="19646900" y="0"/>
                  </a:lnTo>
                  <a:lnTo>
                    <a:pt x="19646900" y="9296400"/>
                  </a:lnTo>
                  <a:lnTo>
                    <a:pt x="0" y="929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106118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3706495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Supplier info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2713038" y="2811782"/>
            <a:ext cx="12464680" cy="5958263"/>
            <a:chOff x="0" y="0"/>
            <a:chExt cx="19715329" cy="9424159"/>
          </a:xfrm>
        </p:grpSpPr>
        <p:sp>
          <p:nvSpPr>
            <p:cNvPr id="8" name="Freeform 8" descr="A screenshot of a phone number&#10;&#10;AI-generated content may be incorrect."/>
            <p:cNvSpPr/>
            <p:nvPr/>
          </p:nvSpPr>
          <p:spPr>
            <a:xfrm>
              <a:off x="0" y="0"/>
              <a:ext cx="19715353" cy="9424162"/>
            </a:xfrm>
            <a:custGeom>
              <a:avLst/>
              <a:gdLst/>
              <a:ahLst/>
              <a:cxnLst/>
              <a:rect l="l" t="t" r="r" b="b"/>
              <a:pathLst>
                <a:path w="19715353" h="9424162">
                  <a:moveTo>
                    <a:pt x="0" y="0"/>
                  </a:moveTo>
                  <a:lnTo>
                    <a:pt x="19715353" y="0"/>
                  </a:lnTo>
                  <a:lnTo>
                    <a:pt x="19715353" y="9424162"/>
                  </a:lnTo>
                  <a:lnTo>
                    <a:pt x="0" y="9424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473" r="-1473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76401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2400935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Orders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3048463" y="2743762"/>
            <a:ext cx="12191074" cy="6018103"/>
            <a:chOff x="0" y="0"/>
            <a:chExt cx="19293196" cy="9524053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9293205" cy="9524111"/>
            </a:xfrm>
            <a:custGeom>
              <a:avLst/>
              <a:gdLst/>
              <a:ahLst/>
              <a:cxnLst/>
              <a:rect l="l" t="t" r="r" b="b"/>
              <a:pathLst>
                <a:path w="19293205" h="9524111">
                  <a:moveTo>
                    <a:pt x="0" y="0"/>
                  </a:moveTo>
                  <a:lnTo>
                    <a:pt x="19293205" y="0"/>
                  </a:lnTo>
                  <a:lnTo>
                    <a:pt x="19293205" y="9524111"/>
                  </a:lnTo>
                  <a:lnTo>
                    <a:pt x="0" y="9524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606" r="-606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1015730" y="0"/>
            <a:ext cx="11582836" cy="6681447"/>
            <a:chOff x="0" y="0"/>
            <a:chExt cx="15443781" cy="890859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43836" cy="8908542"/>
            </a:xfrm>
            <a:custGeom>
              <a:avLst/>
              <a:gdLst/>
              <a:ahLst/>
              <a:cxnLst/>
              <a:rect l="l" t="t" r="r" b="b"/>
              <a:pathLst>
                <a:path w="15443836" h="8908542">
                  <a:moveTo>
                    <a:pt x="0" y="0"/>
                  </a:moveTo>
                  <a:lnTo>
                    <a:pt x="15443836" y="0"/>
                  </a:lnTo>
                  <a:lnTo>
                    <a:pt x="15443836" y="8908542"/>
                  </a:lnTo>
                  <a:lnTo>
                    <a:pt x="0" y="89085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41579" r="-4157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12337133" y="964152"/>
            <a:ext cx="8940030" cy="8940030"/>
            <a:chOff x="0" y="0"/>
            <a:chExt cx="11920040" cy="119200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2"/>
              <a:stretch>
                <a:fillRect l="-24999" r="-2499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 rot="0">
            <a:off x="7550451" y="5733864"/>
            <a:ext cx="8940030" cy="8940030"/>
            <a:chOff x="0" y="0"/>
            <a:chExt cx="11920040" cy="119200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3"/>
              <a:stretch>
                <a:fillRect l="-24906" r="-24906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786033"/>
            <a:ext cx="976064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Innovation &amp; Professionalism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4987" y="2267082"/>
            <a:ext cx="9144000" cy="4574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Uniqueness: Combined inbound &amp;  outbound shipment handling, automated logs, error prevention.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Scalability: Structure support future integration (e.g. analytics, REST APIs)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Industry relevance: Inventory + supply chain is a real world problem every business faces.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Highlight: “We designed it like an actual enterprise-grade system not just a student project.”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58488" y="1028700"/>
            <a:ext cx="15371023" cy="7589443"/>
          </a:xfrm>
          <a:custGeom>
            <a:avLst/>
            <a:gdLst/>
            <a:ahLst/>
            <a:cxnLst/>
            <a:rect l="l" t="t" r="r" b="b"/>
            <a:pathLst>
              <a:path w="15371023" h="7589443">
                <a:moveTo>
                  <a:pt x="0" y="0"/>
                </a:moveTo>
                <a:lnTo>
                  <a:pt x="15371023" y="0"/>
                </a:lnTo>
                <a:lnTo>
                  <a:pt x="15371023" y="7589443"/>
                </a:lnTo>
                <a:lnTo>
                  <a:pt x="0" y="758944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68" b="-6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899115" y="3931839"/>
            <a:ext cx="2489769" cy="1878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Feature Scope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76377" y="1312968"/>
            <a:ext cx="5344051" cy="140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Add analytics &amp; forecasting using historical data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936892" y="6849046"/>
            <a:ext cx="4722691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1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Role based dashboards (admin, staff)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1231176" y="1228513"/>
            <a:ext cx="5454270" cy="140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Integration with cloud (Oracle APEX or Node.js backend)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657322" y="7057897"/>
            <a:ext cx="6601978" cy="79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Mobile friendly interfaces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1246765" y="-765197"/>
            <a:ext cx="7393916" cy="7108790"/>
            <a:chOff x="0" y="0"/>
            <a:chExt cx="9858555" cy="9478387"/>
          </a:xfrm>
        </p:grpSpPr>
        <p:sp>
          <p:nvSpPr>
            <p:cNvPr id="5" name="Freeform 5"/>
            <p:cNvSpPr/>
            <p:nvPr/>
          </p:nvSpPr>
          <p:spPr>
            <a:xfrm flipV="1">
              <a:off x="0" y="0"/>
              <a:ext cx="9858502" cy="9478391"/>
            </a:xfrm>
            <a:custGeom>
              <a:avLst/>
              <a:gdLst/>
              <a:ahLst/>
              <a:cxnLst/>
              <a:rect l="l" t="t" r="r" b="b"/>
              <a:pathLst>
                <a:path w="9858502" h="9478391">
                  <a:moveTo>
                    <a:pt x="0" y="9478391"/>
                  </a:moveTo>
                  <a:lnTo>
                    <a:pt x="9858502" y="9478391"/>
                  </a:lnTo>
                  <a:lnTo>
                    <a:pt x="9858502" y="0"/>
                  </a:lnTo>
                  <a:lnTo>
                    <a:pt x="0" y="0"/>
                  </a:lnTo>
                  <a:lnTo>
                    <a:pt x="0" y="9478391"/>
                  </a:lnTo>
                  <a:close/>
                </a:path>
              </a:pathLst>
            </a:custGeom>
            <a:blipFill>
              <a:blip r:embed="rId5"/>
              <a:stretch>
                <a:fillRect l="-22107" r="-22108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2778031" y="1410161"/>
            <a:ext cx="3546713" cy="3546713"/>
          </a:xfrm>
          <a:custGeom>
            <a:avLst/>
            <a:gdLst/>
            <a:ahLst/>
            <a:cxnLst/>
            <a:rect l="l" t="t" r="r" b="b"/>
            <a:pathLst>
              <a:path w="3546713" h="3546713">
                <a:moveTo>
                  <a:pt x="0" y="0"/>
                </a:moveTo>
                <a:lnTo>
                  <a:pt x="3546713" y="0"/>
                </a:lnTo>
                <a:lnTo>
                  <a:pt x="3546713" y="3546713"/>
                </a:lnTo>
                <a:lnTo>
                  <a:pt x="0" y="35467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9973727">
            <a:off x="9324240" y="4271081"/>
            <a:ext cx="4259757" cy="4158588"/>
          </a:xfrm>
          <a:custGeom>
            <a:avLst/>
            <a:gdLst/>
            <a:ahLst/>
            <a:cxnLst/>
            <a:rect l="l" t="t" r="r" b="b"/>
            <a:pathLst>
              <a:path w="4259757" h="4158588">
                <a:moveTo>
                  <a:pt x="0" y="0"/>
                </a:moveTo>
                <a:lnTo>
                  <a:pt x="4259757" y="0"/>
                </a:lnTo>
                <a:lnTo>
                  <a:pt x="4259757" y="4158588"/>
                </a:lnTo>
                <a:lnTo>
                  <a:pt x="0" y="41585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41" r="-41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3155255" y="2807220"/>
            <a:ext cx="2792266" cy="93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85"/>
              </a:lnSpc>
            </a:pPr>
            <a:r>
              <a:rPr lang="en-US" sz="9550" b="1">
                <a:solidFill>
                  <a:srgbClr val="FFFFFF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rPr>
              <a:t>Q&amp;A</a:t>
            </a:r>
            <a:endParaRPr lang="en-US" sz="9550" b="1">
              <a:solidFill>
                <a:srgbClr val="FFFFFF"/>
              </a:solidFill>
              <a:latin typeface="Oswald Bold" panose="00000800000000000000"/>
              <a:ea typeface="Oswald Bold" panose="00000800000000000000"/>
              <a:cs typeface="Oswald Bold" panose="00000800000000000000"/>
              <a:sym typeface="Oswald Bold" panose="00000800000000000000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4435663" y="5000341"/>
            <a:ext cx="6083924" cy="1734113"/>
          </a:xfrm>
          <a:custGeom>
            <a:avLst/>
            <a:gdLst/>
            <a:ahLst/>
            <a:cxnLst/>
            <a:rect l="l" t="t" r="r" b="b"/>
            <a:pathLst>
              <a:path w="6083924" h="1734113">
                <a:moveTo>
                  <a:pt x="0" y="0"/>
                </a:moveTo>
                <a:lnTo>
                  <a:pt x="6083924" y="0"/>
                </a:lnTo>
                <a:lnTo>
                  <a:pt x="6083924" y="1734113"/>
                </a:lnTo>
                <a:lnTo>
                  <a:pt x="0" y="173411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435663" y="6591295"/>
            <a:ext cx="6083924" cy="2036943"/>
          </a:xfrm>
          <a:custGeom>
            <a:avLst/>
            <a:gdLst/>
            <a:ahLst/>
            <a:cxnLst/>
            <a:rect l="l" t="t" r="r" b="b"/>
            <a:pathLst>
              <a:path w="6083924" h="2036943">
                <a:moveTo>
                  <a:pt x="0" y="0"/>
                </a:moveTo>
                <a:lnTo>
                  <a:pt x="6083924" y="0"/>
                </a:lnTo>
                <a:lnTo>
                  <a:pt x="6083924" y="2036943"/>
                </a:lnTo>
                <a:lnTo>
                  <a:pt x="0" y="203694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136515" y="6355715"/>
            <a:ext cx="5410835" cy="1036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20"/>
              </a:lnSpc>
            </a:pPr>
            <a:r>
              <a:rPr lang="en-US" sz="1000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Thank You</a:t>
            </a:r>
            <a:endParaRPr lang="en-US" sz="1000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-210820" y="1057016"/>
            <a:ext cx="6761480" cy="1733809"/>
          </a:xfrm>
          <a:custGeom>
            <a:avLst/>
            <a:gdLst/>
            <a:ahLst/>
            <a:cxnLst/>
            <a:rect l="l" t="t" r="r" b="b"/>
            <a:pathLst>
              <a:path w="6761480" h="1733809">
                <a:moveTo>
                  <a:pt x="0" y="0"/>
                </a:moveTo>
                <a:lnTo>
                  <a:pt x="6761480" y="0"/>
                </a:lnTo>
                <a:lnTo>
                  <a:pt x="6761480" y="1733809"/>
                </a:lnTo>
                <a:lnTo>
                  <a:pt x="0" y="173380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-11430" y="2647679"/>
            <a:ext cx="6562090" cy="2617741"/>
          </a:xfrm>
          <a:custGeom>
            <a:avLst/>
            <a:gdLst/>
            <a:ahLst/>
            <a:cxnLst/>
            <a:rect l="l" t="t" r="r" b="b"/>
            <a:pathLst>
              <a:path w="6562090" h="2617741">
                <a:moveTo>
                  <a:pt x="0" y="0"/>
                </a:moveTo>
                <a:lnTo>
                  <a:pt x="6562090" y="0"/>
                </a:lnTo>
                <a:lnTo>
                  <a:pt x="6562090" y="2617741"/>
                </a:lnTo>
                <a:lnTo>
                  <a:pt x="0" y="261774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403475" y="1782445"/>
            <a:ext cx="4650105" cy="477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50"/>
              </a:lnSpc>
            </a:pPr>
            <a:r>
              <a:rPr lang="en-US" sz="360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Conclusion</a:t>
            </a:r>
            <a:endParaRPr lang="en-US" sz="360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20775" y="3195955"/>
            <a:ext cx="4889500" cy="1487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7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Our system already work like a real solution and has a clear groethpath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6" name="Group 16"/>
          <p:cNvGrpSpPr/>
          <p:nvPr/>
        </p:nvGrpSpPr>
        <p:grpSpPr>
          <a:xfrm rot="0">
            <a:off x="9335423" y="1189144"/>
            <a:ext cx="1055985" cy="1994373"/>
            <a:chOff x="0" y="0"/>
            <a:chExt cx="1407980" cy="265916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07922" cy="2659126"/>
            </a:xfrm>
            <a:custGeom>
              <a:avLst/>
              <a:gdLst/>
              <a:ahLst/>
              <a:cxnLst/>
              <a:rect l="l" t="t" r="r" b="b"/>
              <a:pathLst>
                <a:path w="1407922" h="2659126">
                  <a:moveTo>
                    <a:pt x="0" y="0"/>
                  </a:moveTo>
                  <a:lnTo>
                    <a:pt x="1407922" y="0"/>
                  </a:lnTo>
                  <a:lnTo>
                    <a:pt x="1407922" y="2659126"/>
                  </a:lnTo>
                  <a:lnTo>
                    <a:pt x="0" y="2659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49852" r="-249856" b="-1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2705</Words>
  <Application>WPS Presentation</Application>
  <PresentationFormat>On-screen Show (4:3)</PresentationFormat>
  <Paragraphs>116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SimSun</vt:lpstr>
      <vt:lpstr>Wingdings</vt:lpstr>
      <vt:lpstr>Oswald Bold</vt:lpstr>
      <vt:lpstr>Oswald</vt:lpstr>
      <vt:lpstr>DM Sans Bold</vt:lpstr>
      <vt:lpstr>DM Sans</vt:lpstr>
      <vt:lpstr>Arial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And White Modern Innovative Supply Chain Management Presentation (1).pptx</dc:title>
  <dc:creator/>
  <cp:lastModifiedBy>User</cp:lastModifiedBy>
  <cp:revision>2</cp:revision>
  <dcterms:created xsi:type="dcterms:W3CDTF">2006-08-16T00:00:00Z</dcterms:created>
  <dcterms:modified xsi:type="dcterms:W3CDTF">2025-09-08T22:54:53Z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6BB02C77134E4AFEA295EE31A23DDBDC_12</vt:lpwstr>
  </property>
  <property fmtid="{D5CDD505-2E9C-101B-9397-08002B2CF9AE}" pid="3" name="KSOProductBuildVer">
    <vt:lpwstr>2057-12.2.0.21936</vt:lpwstr>
  </property>
</Properties>
</file>