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fonts/font1.fntdata" ContentType="application/x-fontdata"/>
  <Override PartName="/ppt/fonts/font2.fntdata" ContentType="application/x-fontdata"/>
  <Override PartName="/ppt/fonts/font3.fntdata" ContentType="application/x-fontdata"/>
  <Override PartName="/ppt/fonts/font4.fntdata" ContentType="application/x-fontdata"/>
  <Override PartName="/ppt/fonts/font5.fntdata" ContentType="application/x-fontdata"/>
  <Override PartName="/ppt/fonts/font6.fntdata" ContentType="application/x-fontdata"/>
  <Override PartName="/ppt/fonts/font7.fntdata" ContentType="application/x-fontdata"/>
  <Override PartName="/ppt/fonts/font8.fntdata" ContentType="application/x-fontdata"/>
  <Override PartName="/ppt/media/image11.svg" ContentType="image/svg+xml"/>
  <Override PartName="/ppt/media/image16.svg" ContentType="image/svg+xml"/>
  <Override PartName="/ppt/media/image24.svg" ContentType="image/svg+xml"/>
  <Override PartName="/ppt/media/image3.svg" ContentType="image/svg+xml"/>
  <Override PartName="/ppt/media/image33.svg" ContentType="image/svg+xml"/>
  <Override PartName="/ppt/media/image36.svg" ContentType="image/svg+xml"/>
  <Override PartName="/ppt/media/image38.svg" ContentType="image/svg+xml"/>
  <Override PartName="/ppt/media/image40.svg" ContentType="image/svg+xml"/>
  <Override PartName="/ppt/media/image42.svg" ContentType="image/svg+xml"/>
  <Override PartName="/ppt/media/image44.svg" ContentType="image/svg+xml"/>
  <Override PartName="/ppt/media/image46.svg" ContentType="image/svg+xml"/>
  <Override PartName="/ppt/media/image5.svg" ContentType="image/svg+xml"/>
  <Override PartName="/ppt/media/image9.svg" ContentType="image/svg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</p:sldIdLst>
  <p:sldSz cx="18288000" cy="10287000"/>
  <p:notesSz cx="6858000" cy="9144000"/>
  <p:embeddedFontLst>
    <p:embeddedFont>
      <p:font typeface="Oswald Bold" panose="00000800000000000000"/>
      <p:bold r:id="rId21"/>
    </p:embeddedFont>
    <p:embeddedFont>
      <p:font typeface="Oswald" panose="00000500000000000000"/>
      <p:regular r:id="rId22"/>
    </p:embeddedFont>
    <p:embeddedFont>
      <p:font typeface="DM Sans Bold"/>
      <p:bold r:id="rId23"/>
    </p:embeddedFont>
    <p:embeddedFont>
      <p:font typeface="DM Sans"/>
      <p:regular r:id="rId24"/>
    </p:embeddedFont>
    <p:embeddedFont>
      <p:font typeface="Calibri" panose="020F0502020204030204" charset="0"/>
      <p:regular r:id="rId25"/>
      <p:bold r:id="rId26"/>
      <p:italic r:id="rId27"/>
      <p:boldItalic r:id="rId2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2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 showGuides="1">
      <p:cViewPr varScale="1">
        <p:scale>
          <a:sx n="74" d="100"/>
          <a:sy n="74" d="100"/>
        </p:scale>
        <p:origin x="-1092" y="-90"/>
      </p:cViewPr>
      <p:guideLst>
        <p:guide orient="horz" pos="2162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8" Type="http://schemas.openxmlformats.org/officeDocument/2006/relationships/font" Target="fonts/font8.fntdata"/><Relationship Id="rId27" Type="http://schemas.openxmlformats.org/officeDocument/2006/relationships/font" Target="fonts/font7.fntdata"/><Relationship Id="rId26" Type="http://schemas.openxmlformats.org/officeDocument/2006/relationships/font" Target="fonts/font6.fntdata"/><Relationship Id="rId25" Type="http://schemas.openxmlformats.org/officeDocument/2006/relationships/font" Target="fonts/font5.fntdata"/><Relationship Id="rId24" Type="http://schemas.openxmlformats.org/officeDocument/2006/relationships/font" Target="fonts/font4.fntdata"/><Relationship Id="rId23" Type="http://schemas.openxmlformats.org/officeDocument/2006/relationships/font" Target="fonts/font3.fntdata"/><Relationship Id="rId22" Type="http://schemas.openxmlformats.org/officeDocument/2006/relationships/font" Target="fonts/font2.fntdata"/><Relationship Id="rId21" Type="http://schemas.openxmlformats.org/officeDocument/2006/relationships/font" Target="fonts/font1.fntdata"/><Relationship Id="rId20" Type="http://schemas.openxmlformats.org/officeDocument/2006/relationships/tableStyles" Target="tableStyles.xml"/><Relationship Id="rId2" Type="http://schemas.openxmlformats.org/officeDocument/2006/relationships/theme" Target="theme/theme1.xml"/><Relationship Id="rId19" Type="http://schemas.openxmlformats.org/officeDocument/2006/relationships/viewProps" Target="viewProps.xml"/><Relationship Id="rId18" Type="http://schemas.openxmlformats.org/officeDocument/2006/relationships/presProps" Target="presProps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7.xml"/><Relationship Id="rId5" Type="http://schemas.openxmlformats.org/officeDocument/2006/relationships/image" Target="../media/image5.svg"/><Relationship Id="rId4" Type="http://schemas.openxmlformats.org/officeDocument/2006/relationships/image" Target="../media/image4.png"/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7.xml"/><Relationship Id="rId6" Type="http://schemas.openxmlformats.org/officeDocument/2006/relationships/image" Target="../media/image11.svg"/><Relationship Id="rId5" Type="http://schemas.openxmlformats.org/officeDocument/2006/relationships/image" Target="../media/image10.png"/><Relationship Id="rId4" Type="http://schemas.openxmlformats.org/officeDocument/2006/relationships/image" Target="../media/image9.svg"/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image" Target="../media/image6.jpeg"/></Relationships>
</file>

<file path=ppt/slides/_rels/slide3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7.xml"/><Relationship Id="rId6" Type="http://schemas.openxmlformats.org/officeDocument/2006/relationships/image" Target="../media/image11.svg"/><Relationship Id="rId5" Type="http://schemas.openxmlformats.org/officeDocument/2006/relationships/image" Target="../media/image10.png"/><Relationship Id="rId4" Type="http://schemas.openxmlformats.org/officeDocument/2006/relationships/image" Target="../media/image9.svg"/><Relationship Id="rId3" Type="http://schemas.openxmlformats.org/officeDocument/2006/relationships/image" Target="../media/image8.png"/><Relationship Id="rId2" Type="http://schemas.openxmlformats.org/officeDocument/2006/relationships/image" Target="../media/image13.png"/><Relationship Id="rId1" Type="http://schemas.openxmlformats.org/officeDocument/2006/relationships/image" Target="../media/image12.png"/></Relationships>
</file>

<file path=ppt/slides/_rels/slide4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7.xml"/><Relationship Id="rId6" Type="http://schemas.openxmlformats.org/officeDocument/2006/relationships/image" Target="../media/image11.svg"/><Relationship Id="rId5" Type="http://schemas.openxmlformats.org/officeDocument/2006/relationships/image" Target="../media/image10.png"/><Relationship Id="rId4" Type="http://schemas.openxmlformats.org/officeDocument/2006/relationships/image" Target="../media/image9.svg"/><Relationship Id="rId3" Type="http://schemas.openxmlformats.org/officeDocument/2006/relationships/image" Target="../media/image8.png"/><Relationship Id="rId2" Type="http://schemas.openxmlformats.org/officeDocument/2006/relationships/image" Target="../media/image14.jpeg"/><Relationship Id="rId1" Type="http://schemas.openxmlformats.org/officeDocument/2006/relationships/image" Target="../media/image12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7.xml"/><Relationship Id="rId7" Type="http://schemas.openxmlformats.org/officeDocument/2006/relationships/image" Target="../media/image17.png"/><Relationship Id="rId6" Type="http://schemas.openxmlformats.org/officeDocument/2006/relationships/image" Target="../media/image11.svg"/><Relationship Id="rId5" Type="http://schemas.openxmlformats.org/officeDocument/2006/relationships/image" Target="../media/image10.png"/><Relationship Id="rId4" Type="http://schemas.openxmlformats.org/officeDocument/2006/relationships/image" Target="../media/image9.svg"/><Relationship Id="rId3" Type="http://schemas.openxmlformats.org/officeDocument/2006/relationships/image" Target="../media/image8.png"/><Relationship Id="rId2" Type="http://schemas.openxmlformats.org/officeDocument/2006/relationships/image" Target="../media/image16.svg"/><Relationship Id="rId1" Type="http://schemas.openxmlformats.org/officeDocument/2006/relationships/image" Target="../media/image15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7.xml"/><Relationship Id="rId7" Type="http://schemas.openxmlformats.org/officeDocument/2006/relationships/image" Target="../media/image11.svg"/><Relationship Id="rId6" Type="http://schemas.openxmlformats.org/officeDocument/2006/relationships/image" Target="../media/image10.png"/><Relationship Id="rId5" Type="http://schemas.openxmlformats.org/officeDocument/2006/relationships/image" Target="../media/image9.svg"/><Relationship Id="rId4" Type="http://schemas.openxmlformats.org/officeDocument/2006/relationships/image" Target="../media/image8.png"/><Relationship Id="rId3" Type="http://schemas.openxmlformats.org/officeDocument/2006/relationships/image" Target="../media/image20.jpeg"/><Relationship Id="rId2" Type="http://schemas.openxmlformats.org/officeDocument/2006/relationships/image" Target="../media/image19.jpeg"/><Relationship Id="rId1" Type="http://schemas.openxmlformats.org/officeDocument/2006/relationships/image" Target="../media/image18.png"/></Relationships>
</file>

<file path=ppt/slides/_rels/slide7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7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11.svg"/><Relationship Id="rId3" Type="http://schemas.openxmlformats.org/officeDocument/2006/relationships/image" Target="../media/image10.png"/><Relationship Id="rId2" Type="http://schemas.openxmlformats.org/officeDocument/2006/relationships/image" Target="../media/image9.svg"/><Relationship Id="rId1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9" Type="http://schemas.openxmlformats.org/officeDocument/2006/relationships/image" Target="../media/image27.png"/><Relationship Id="rId8" Type="http://schemas.openxmlformats.org/officeDocument/2006/relationships/image" Target="../media/image26.png"/><Relationship Id="rId7" Type="http://schemas.openxmlformats.org/officeDocument/2006/relationships/image" Target="../media/image25.png"/><Relationship Id="rId6" Type="http://schemas.openxmlformats.org/officeDocument/2006/relationships/image" Target="../media/image11.svg"/><Relationship Id="rId5" Type="http://schemas.openxmlformats.org/officeDocument/2006/relationships/image" Target="../media/image10.png"/><Relationship Id="rId4" Type="http://schemas.openxmlformats.org/officeDocument/2006/relationships/image" Target="../media/image9.svg"/><Relationship Id="rId3" Type="http://schemas.openxmlformats.org/officeDocument/2006/relationships/image" Target="../media/image8.png"/><Relationship Id="rId2" Type="http://schemas.openxmlformats.org/officeDocument/2006/relationships/image" Target="../media/image24.svg"/><Relationship Id="rId10" Type="http://schemas.openxmlformats.org/officeDocument/2006/relationships/slideLayout" Target="../slideLayouts/slideLayout7.xml"/><Relationship Id="rId1" Type="http://schemas.openxmlformats.org/officeDocument/2006/relationships/image" Target="../media/image23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7.xml"/><Relationship Id="rId7" Type="http://schemas.openxmlformats.org/officeDocument/2006/relationships/image" Target="../media/image28.png"/><Relationship Id="rId6" Type="http://schemas.openxmlformats.org/officeDocument/2006/relationships/image" Target="../media/image11.svg"/><Relationship Id="rId5" Type="http://schemas.openxmlformats.org/officeDocument/2006/relationships/image" Target="../media/image10.png"/><Relationship Id="rId4" Type="http://schemas.openxmlformats.org/officeDocument/2006/relationships/image" Target="../media/image9.svg"/><Relationship Id="rId3" Type="http://schemas.openxmlformats.org/officeDocument/2006/relationships/image" Target="../media/image8.png"/><Relationship Id="rId2" Type="http://schemas.openxmlformats.org/officeDocument/2006/relationships/image" Target="../media/image24.svg"/><Relationship Id="rId1" Type="http://schemas.openxmlformats.org/officeDocument/2006/relationships/image" Target="../media/image23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7.xml"/><Relationship Id="rId7" Type="http://schemas.openxmlformats.org/officeDocument/2006/relationships/image" Target="../media/image29.png"/><Relationship Id="rId6" Type="http://schemas.openxmlformats.org/officeDocument/2006/relationships/image" Target="../media/image11.svg"/><Relationship Id="rId5" Type="http://schemas.openxmlformats.org/officeDocument/2006/relationships/image" Target="../media/image10.png"/><Relationship Id="rId4" Type="http://schemas.openxmlformats.org/officeDocument/2006/relationships/image" Target="../media/image9.svg"/><Relationship Id="rId3" Type="http://schemas.openxmlformats.org/officeDocument/2006/relationships/image" Target="../media/image8.png"/><Relationship Id="rId2" Type="http://schemas.openxmlformats.org/officeDocument/2006/relationships/image" Target="../media/image24.svg"/><Relationship Id="rId1" Type="http://schemas.openxmlformats.org/officeDocument/2006/relationships/image" Target="../media/image23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7.xml"/><Relationship Id="rId7" Type="http://schemas.openxmlformats.org/officeDocument/2006/relationships/image" Target="../media/image30.png"/><Relationship Id="rId6" Type="http://schemas.openxmlformats.org/officeDocument/2006/relationships/image" Target="../media/image11.svg"/><Relationship Id="rId5" Type="http://schemas.openxmlformats.org/officeDocument/2006/relationships/image" Target="../media/image10.png"/><Relationship Id="rId4" Type="http://schemas.openxmlformats.org/officeDocument/2006/relationships/image" Target="../media/image9.svg"/><Relationship Id="rId3" Type="http://schemas.openxmlformats.org/officeDocument/2006/relationships/image" Target="../media/image8.png"/><Relationship Id="rId2" Type="http://schemas.openxmlformats.org/officeDocument/2006/relationships/image" Target="../media/image24.svg"/><Relationship Id="rId1" Type="http://schemas.openxmlformats.org/officeDocument/2006/relationships/image" Target="../media/image23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7.xml"/><Relationship Id="rId7" Type="http://schemas.openxmlformats.org/officeDocument/2006/relationships/image" Target="../media/image31.png"/><Relationship Id="rId6" Type="http://schemas.openxmlformats.org/officeDocument/2006/relationships/image" Target="../media/image11.svg"/><Relationship Id="rId5" Type="http://schemas.openxmlformats.org/officeDocument/2006/relationships/image" Target="../media/image10.png"/><Relationship Id="rId4" Type="http://schemas.openxmlformats.org/officeDocument/2006/relationships/image" Target="../media/image9.svg"/><Relationship Id="rId3" Type="http://schemas.openxmlformats.org/officeDocument/2006/relationships/image" Target="../media/image8.png"/><Relationship Id="rId2" Type="http://schemas.openxmlformats.org/officeDocument/2006/relationships/image" Target="../media/image24.svg"/><Relationship Id="rId1" Type="http://schemas.openxmlformats.org/officeDocument/2006/relationships/image" Target="../media/image23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7.xml"/><Relationship Id="rId7" Type="http://schemas.openxmlformats.org/officeDocument/2006/relationships/image" Target="../media/image11.svg"/><Relationship Id="rId6" Type="http://schemas.openxmlformats.org/officeDocument/2006/relationships/image" Target="../media/image10.png"/><Relationship Id="rId5" Type="http://schemas.openxmlformats.org/officeDocument/2006/relationships/image" Target="../media/image9.svg"/><Relationship Id="rId4" Type="http://schemas.openxmlformats.org/officeDocument/2006/relationships/image" Target="../media/image8.png"/><Relationship Id="rId3" Type="http://schemas.openxmlformats.org/officeDocument/2006/relationships/image" Target="../media/image20.jpeg"/><Relationship Id="rId2" Type="http://schemas.openxmlformats.org/officeDocument/2006/relationships/image" Target="../media/image19.jpeg"/><Relationship Id="rId1" Type="http://schemas.openxmlformats.org/officeDocument/2006/relationships/image" Target="../media/image18.png"/></Relationships>
</file>

<file path=ppt/slides/_rels/slide14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7.xml"/><Relationship Id="rId6" Type="http://schemas.openxmlformats.org/officeDocument/2006/relationships/image" Target="../media/image33.svg"/><Relationship Id="rId5" Type="http://schemas.openxmlformats.org/officeDocument/2006/relationships/image" Target="../media/image32.png"/><Relationship Id="rId4" Type="http://schemas.openxmlformats.org/officeDocument/2006/relationships/image" Target="../media/image11.svg"/><Relationship Id="rId3" Type="http://schemas.openxmlformats.org/officeDocument/2006/relationships/image" Target="../media/image10.png"/><Relationship Id="rId2" Type="http://schemas.openxmlformats.org/officeDocument/2006/relationships/image" Target="../media/image9.svg"/><Relationship Id="rId1" Type="http://schemas.openxmlformats.org/officeDocument/2006/relationships/image" Target="../media/image8.png"/></Relationships>
</file>

<file path=ppt/slides/_rels/slide15.xml.rels><?xml version="1.0" encoding="UTF-8" standalone="yes"?>
<Relationships xmlns="http://schemas.openxmlformats.org/package/2006/relationships"><Relationship Id="rId9" Type="http://schemas.openxmlformats.org/officeDocument/2006/relationships/image" Target="../media/image38.svg"/><Relationship Id="rId8" Type="http://schemas.openxmlformats.org/officeDocument/2006/relationships/image" Target="../media/image37.png"/><Relationship Id="rId7" Type="http://schemas.openxmlformats.org/officeDocument/2006/relationships/image" Target="../media/image36.svg"/><Relationship Id="rId6" Type="http://schemas.openxmlformats.org/officeDocument/2006/relationships/image" Target="../media/image35.png"/><Relationship Id="rId5" Type="http://schemas.openxmlformats.org/officeDocument/2006/relationships/image" Target="../media/image34.png"/><Relationship Id="rId4" Type="http://schemas.openxmlformats.org/officeDocument/2006/relationships/image" Target="../media/image11.svg"/><Relationship Id="rId3" Type="http://schemas.openxmlformats.org/officeDocument/2006/relationships/image" Target="../media/image10.png"/><Relationship Id="rId2" Type="http://schemas.openxmlformats.org/officeDocument/2006/relationships/image" Target="../media/image9.svg"/><Relationship Id="rId19" Type="http://schemas.openxmlformats.org/officeDocument/2006/relationships/slideLayout" Target="../slideLayouts/slideLayout7.xml"/><Relationship Id="rId18" Type="http://schemas.openxmlformats.org/officeDocument/2006/relationships/image" Target="../media/image18.png"/><Relationship Id="rId17" Type="http://schemas.openxmlformats.org/officeDocument/2006/relationships/image" Target="../media/image46.svg"/><Relationship Id="rId16" Type="http://schemas.openxmlformats.org/officeDocument/2006/relationships/image" Target="../media/image45.png"/><Relationship Id="rId15" Type="http://schemas.openxmlformats.org/officeDocument/2006/relationships/image" Target="../media/image44.svg"/><Relationship Id="rId14" Type="http://schemas.openxmlformats.org/officeDocument/2006/relationships/image" Target="../media/image43.png"/><Relationship Id="rId13" Type="http://schemas.openxmlformats.org/officeDocument/2006/relationships/image" Target="../media/image42.svg"/><Relationship Id="rId12" Type="http://schemas.openxmlformats.org/officeDocument/2006/relationships/image" Target="../media/image41.png"/><Relationship Id="rId11" Type="http://schemas.openxmlformats.org/officeDocument/2006/relationships/image" Target="../media/image40.svg"/><Relationship Id="rId10" Type="http://schemas.openxmlformats.org/officeDocument/2006/relationships/image" Target="../media/image39.png"/><Relationship Id="rId1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-6000">
            <a:off x="-8963" y="-92151"/>
            <a:ext cx="18305926" cy="10318903"/>
            <a:chOff x="0" y="0"/>
            <a:chExt cx="24407901" cy="13758537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407876" cy="13758545"/>
            </a:xfrm>
            <a:custGeom>
              <a:avLst/>
              <a:gdLst/>
              <a:ahLst/>
              <a:cxnLst/>
              <a:rect l="l" t="t" r="r" b="b"/>
              <a:pathLst>
                <a:path w="24407876" h="13758545">
                  <a:moveTo>
                    <a:pt x="23876" y="0"/>
                  </a:moveTo>
                  <a:lnTo>
                    <a:pt x="24407876" y="42545"/>
                  </a:lnTo>
                  <a:lnTo>
                    <a:pt x="24384000" y="13758545"/>
                  </a:lnTo>
                  <a:lnTo>
                    <a:pt x="0" y="13716000"/>
                  </a:lnTo>
                  <a:lnTo>
                    <a:pt x="23876" y="0"/>
                  </a:lnTo>
                  <a:close/>
                </a:path>
              </a:pathLst>
            </a:custGeom>
            <a:blipFill>
              <a:blip r:embed="rId1"/>
              <a:stretch>
                <a:fillRect l="-1859" r="-1859"/>
              </a:stretch>
            </a:blipFill>
          </p:spPr>
          <p:txBody>
            <a:bodyPr/>
            <a:p>
              <a:endParaRPr lang="en-GB" altLang="en-US"/>
            </a:p>
          </p:txBody>
        </p:sp>
      </p:grpSp>
      <p:sp>
        <p:nvSpPr>
          <p:cNvPr id="4" name="Freeform 4"/>
          <p:cNvSpPr/>
          <p:nvPr/>
        </p:nvSpPr>
        <p:spPr>
          <a:xfrm>
            <a:off x="-369227" y="9605702"/>
            <a:ext cx="10580338" cy="776130"/>
          </a:xfrm>
          <a:custGeom>
            <a:avLst/>
            <a:gdLst/>
            <a:ahLst/>
            <a:cxnLst/>
            <a:rect l="l" t="t" r="r" b="b"/>
            <a:pathLst>
              <a:path w="10580338" h="776130">
                <a:moveTo>
                  <a:pt x="0" y="0"/>
                </a:moveTo>
                <a:lnTo>
                  <a:pt x="10580338" y="0"/>
                </a:lnTo>
                <a:lnTo>
                  <a:pt x="10580338" y="776130"/>
                </a:lnTo>
                <a:lnTo>
                  <a:pt x="0" y="77613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8458408" y="8801286"/>
            <a:ext cx="3796928" cy="3796928"/>
          </a:xfrm>
          <a:custGeom>
            <a:avLst/>
            <a:gdLst/>
            <a:ahLst/>
            <a:cxnLst/>
            <a:rect l="l" t="t" r="r" b="b"/>
            <a:pathLst>
              <a:path w="3796928" h="3796928">
                <a:moveTo>
                  <a:pt x="0" y="0"/>
                </a:moveTo>
                <a:lnTo>
                  <a:pt x="3796928" y="0"/>
                </a:lnTo>
                <a:lnTo>
                  <a:pt x="3796928" y="3796928"/>
                </a:lnTo>
                <a:lnTo>
                  <a:pt x="0" y="379692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grpSp>
        <p:nvGrpSpPr>
          <p:cNvPr id="17" name="Group 16"/>
          <p:cNvGrpSpPr/>
          <p:nvPr/>
        </p:nvGrpSpPr>
        <p:grpSpPr>
          <a:xfrm>
            <a:off x="1295400" y="1562100"/>
            <a:ext cx="10676890" cy="3206101"/>
            <a:chOff x="1440" y="2460"/>
            <a:chExt cx="16814" cy="5049"/>
          </a:xfrm>
        </p:grpSpPr>
        <p:sp>
          <p:nvSpPr>
            <p:cNvPr id="6" name="TextBox 6"/>
            <p:cNvSpPr txBox="1"/>
            <p:nvPr/>
          </p:nvSpPr>
          <p:spPr>
            <a:xfrm>
              <a:off x="1440" y="2460"/>
              <a:ext cx="16814" cy="3273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l">
                <a:lnSpc>
                  <a:spcPts val="8105"/>
                </a:lnSpc>
              </a:pPr>
              <a:r>
                <a:rPr lang="en-US" sz="7575" b="1">
                  <a:solidFill>
                    <a:srgbClr val="000000"/>
                  </a:solidFill>
                  <a:latin typeface="Oswald Bold" panose="00000800000000000000"/>
                  <a:ea typeface="Oswald Bold" panose="00000800000000000000"/>
                  <a:cs typeface="Oswald Bold" panose="00000800000000000000"/>
                  <a:sym typeface="Oswald Bold" panose="00000800000000000000"/>
                </a:rPr>
                <a:t>SMART &amp; INVENTORY</a:t>
              </a:r>
              <a:endParaRPr lang="en-US" sz="7575" b="1">
                <a:solidFill>
                  <a:srgbClr val="000000"/>
                </a:solidFill>
                <a:latin typeface="Oswald Bold" panose="00000800000000000000"/>
                <a:ea typeface="Oswald Bold" panose="00000800000000000000"/>
                <a:cs typeface="Oswald Bold" panose="00000800000000000000"/>
                <a:sym typeface="Oswald Bold" panose="00000800000000000000"/>
              </a:endParaRPr>
            </a:p>
            <a:p>
              <a:pPr algn="l">
                <a:lnSpc>
                  <a:spcPts val="8105"/>
                </a:lnSpc>
              </a:pPr>
              <a:r>
                <a:rPr lang="en-US" sz="7575" b="1">
                  <a:solidFill>
                    <a:srgbClr val="000000"/>
                  </a:solidFill>
                  <a:latin typeface="Oswald Bold" panose="00000800000000000000"/>
                  <a:ea typeface="Oswald Bold" panose="00000800000000000000"/>
                  <a:cs typeface="Oswald Bold" panose="00000800000000000000"/>
                  <a:sym typeface="Oswald Bold" panose="00000800000000000000"/>
                </a:rPr>
                <a:t>SUPPLY CHAIN</a:t>
              </a:r>
              <a:endParaRPr lang="en-US" sz="7575" b="1">
                <a:solidFill>
                  <a:srgbClr val="000000"/>
                </a:solidFill>
                <a:latin typeface="Oswald Bold" panose="00000800000000000000"/>
                <a:ea typeface="Oswald Bold" panose="00000800000000000000"/>
                <a:cs typeface="Oswald Bold" panose="00000800000000000000"/>
                <a:sym typeface="Oswald Bold" panose="00000800000000000000"/>
              </a:endParaRP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1576" y="5962"/>
              <a:ext cx="12336" cy="154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8105"/>
                </a:lnSpc>
              </a:pPr>
              <a:r>
                <a:rPr lang="en-US" sz="7575">
                  <a:solidFill>
                    <a:srgbClr val="000000"/>
                  </a:solidFill>
                  <a:latin typeface="Oswald" panose="00000500000000000000"/>
                  <a:ea typeface="Oswald" panose="00000500000000000000"/>
                  <a:cs typeface="Oswald" panose="00000500000000000000"/>
                  <a:sym typeface="Oswald" panose="00000500000000000000"/>
                </a:rPr>
                <a:t>MANAGEMENT</a:t>
              </a:r>
              <a:endParaRPr lang="en-US" sz="7575">
                <a:solidFill>
                  <a:srgbClr val="000000"/>
                </a:solidFill>
                <a:latin typeface="Oswald" panose="00000500000000000000"/>
                <a:ea typeface="Oswald" panose="00000500000000000000"/>
                <a:cs typeface="Oswald" panose="00000500000000000000"/>
                <a:sym typeface="Oswald" panose="00000500000000000000"/>
              </a:endParaRPr>
            </a:p>
          </p:txBody>
        </p:sp>
      </p:grpSp>
      <p:grpSp>
        <p:nvGrpSpPr>
          <p:cNvPr id="18" name="Group 17"/>
          <p:cNvGrpSpPr/>
          <p:nvPr/>
        </p:nvGrpSpPr>
        <p:grpSpPr>
          <a:xfrm>
            <a:off x="1381760" y="6210291"/>
            <a:ext cx="6050280" cy="2473969"/>
            <a:chOff x="17280" y="10713"/>
            <a:chExt cx="9528" cy="3896"/>
          </a:xfrm>
        </p:grpSpPr>
        <p:sp>
          <p:nvSpPr>
            <p:cNvPr id="8" name="TextBox 8"/>
            <p:cNvSpPr txBox="1"/>
            <p:nvPr/>
          </p:nvSpPr>
          <p:spPr>
            <a:xfrm>
              <a:off x="17280" y="10713"/>
              <a:ext cx="8036" cy="99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4760"/>
                </a:lnSpc>
              </a:pPr>
              <a:r>
                <a:rPr lang="en-US" sz="3400" b="1">
                  <a:solidFill>
                    <a:srgbClr val="000000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Presentation By:</a:t>
              </a:r>
              <a:endParaRPr lang="en-US" sz="3400" b="1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endParaRP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7280" y="11782"/>
              <a:ext cx="9528" cy="282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500"/>
                </a:lnSpc>
              </a:pPr>
              <a:r>
                <a:rPr lang="en-US" sz="2500">
                  <a:solidFill>
                    <a:srgbClr val="000000"/>
                  </a:solidFill>
                  <a:latin typeface="DM Sans"/>
                  <a:ea typeface="DM Sans"/>
                  <a:cs typeface="DM Sans"/>
                  <a:sym typeface="DM Sans"/>
                </a:rPr>
                <a:t>Rumit Hasan Foysal	- 41230301764</a:t>
              </a:r>
              <a:endParaRPr lang="en-US" sz="250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endParaRPr>
            </a:p>
            <a:p>
              <a:pPr algn="l">
                <a:lnSpc>
                  <a:spcPts val="3500"/>
                </a:lnSpc>
              </a:pPr>
              <a:r>
                <a:rPr lang="en-US" sz="2500">
                  <a:solidFill>
                    <a:srgbClr val="000000"/>
                  </a:solidFill>
                  <a:latin typeface="DM Sans"/>
                  <a:ea typeface="DM Sans"/>
                  <a:cs typeface="DM Sans"/>
                  <a:sym typeface="DM Sans"/>
                </a:rPr>
                <a:t>Akash Ahmed		- 41230301749</a:t>
              </a:r>
              <a:endParaRPr lang="en-US" sz="250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endParaRPr>
            </a:p>
            <a:p>
              <a:pPr algn="l">
                <a:lnSpc>
                  <a:spcPts val="3500"/>
                </a:lnSpc>
              </a:pPr>
              <a:r>
                <a:rPr lang="en-US" sz="2500">
                  <a:solidFill>
                    <a:srgbClr val="000000"/>
                  </a:solidFill>
                  <a:latin typeface="DM Sans"/>
                  <a:ea typeface="DM Sans"/>
                  <a:cs typeface="DM Sans"/>
                  <a:sym typeface="DM Sans"/>
                </a:rPr>
                <a:t>Istiak Ahmed		- 41230301729</a:t>
              </a:r>
              <a:endParaRPr lang="en-US" sz="250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endParaRPr>
            </a:p>
            <a:p>
              <a:pPr algn="l">
                <a:lnSpc>
                  <a:spcPts val="3500"/>
                </a:lnSpc>
              </a:pPr>
              <a:r>
                <a:rPr lang="en-US" sz="2500">
                  <a:solidFill>
                    <a:srgbClr val="000000"/>
                  </a:solidFill>
                  <a:latin typeface="DM Sans"/>
                  <a:ea typeface="DM Sans"/>
                  <a:cs typeface="DM Sans"/>
                  <a:sym typeface="DM Sans"/>
                </a:rPr>
                <a:t>Sadia Farjana Mitu		- 41230301727</a:t>
              </a:r>
              <a:endParaRPr lang="en-US" sz="250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endParaRPr>
            </a:p>
          </p:txBody>
        </p:sp>
      </p:grpSp>
      <p:grpSp>
        <p:nvGrpSpPr>
          <p:cNvPr id="19" name="Group 18"/>
          <p:cNvGrpSpPr/>
          <p:nvPr/>
        </p:nvGrpSpPr>
        <p:grpSpPr>
          <a:xfrm>
            <a:off x="10591800" y="6438900"/>
            <a:ext cx="6517640" cy="2154555"/>
            <a:chOff x="840" y="9564"/>
            <a:chExt cx="10264" cy="3393"/>
          </a:xfrm>
        </p:grpSpPr>
        <p:sp>
          <p:nvSpPr>
            <p:cNvPr id="10" name="TextBox 10"/>
            <p:cNvSpPr txBox="1"/>
            <p:nvPr/>
          </p:nvSpPr>
          <p:spPr>
            <a:xfrm>
              <a:off x="840" y="9564"/>
              <a:ext cx="6823" cy="106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4760"/>
                </a:lnSpc>
              </a:pPr>
              <a:r>
                <a:rPr lang="en-US" sz="3400" b="1">
                  <a:solidFill>
                    <a:srgbClr val="000000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Presentation To:</a:t>
              </a:r>
              <a:endParaRPr lang="en-US" sz="3400" b="1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endParaRP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576" y="10807"/>
              <a:ext cx="9528" cy="215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just">
                <a:lnSpc>
                  <a:spcPts val="3500"/>
                </a:lnSpc>
              </a:pPr>
              <a:r>
                <a:rPr lang="en-US" sz="2500">
                  <a:solidFill>
                    <a:srgbClr val="000000"/>
                  </a:solidFill>
                  <a:latin typeface="DM Sans"/>
                  <a:ea typeface="DM Sans"/>
                  <a:cs typeface="DM Sans"/>
                  <a:sym typeface="DM Sans"/>
                </a:rPr>
                <a:t>Tasfia Tabassum Faija</a:t>
              </a:r>
              <a:endParaRPr lang="en-US" sz="250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endParaRPr>
            </a:p>
            <a:p>
              <a:pPr algn="just">
                <a:lnSpc>
                  <a:spcPts val="3500"/>
                </a:lnSpc>
              </a:pPr>
              <a:r>
                <a:rPr lang="en-US" sz="2500">
                  <a:solidFill>
                    <a:srgbClr val="000000"/>
                  </a:solidFill>
                  <a:latin typeface="DM Sans"/>
                  <a:ea typeface="DM Sans"/>
                  <a:cs typeface="DM Sans"/>
                  <a:sym typeface="DM Sans"/>
                </a:rPr>
                <a:t>Lecturer of CSE</a:t>
              </a:r>
              <a:endParaRPr lang="en-US" sz="250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endParaRPr>
            </a:p>
            <a:p>
              <a:pPr algn="just">
                <a:lnSpc>
                  <a:spcPts val="3500"/>
                </a:lnSpc>
              </a:pPr>
              <a:r>
                <a:rPr lang="en-US" sz="2500">
                  <a:solidFill>
                    <a:srgbClr val="000000"/>
                  </a:solidFill>
                  <a:latin typeface="DM Sans"/>
                  <a:ea typeface="DM Sans"/>
                  <a:cs typeface="DM Sans"/>
                  <a:sym typeface="DM Sans"/>
                </a:rPr>
                <a:t>Northern University Bangladesh</a:t>
              </a:r>
              <a:endParaRPr lang="en-US" sz="250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endParaRP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>
            <a:grpSpLocks noChangeAspect="1"/>
          </p:cNvGrpSpPr>
          <p:nvPr/>
        </p:nvGrpSpPr>
        <p:grpSpPr>
          <a:xfrm rot="0">
            <a:off x="0" y="5773883"/>
            <a:ext cx="18288000" cy="4607949"/>
            <a:chOff x="0" y="0"/>
            <a:chExt cx="24384000" cy="6143932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6143879"/>
            </a:xfrm>
            <a:custGeom>
              <a:avLst/>
              <a:gdLst/>
              <a:ahLst/>
              <a:cxnLst/>
              <a:rect l="l" t="t" r="r" b="b"/>
              <a:pathLst>
                <a:path w="24384000" h="6143879">
                  <a:moveTo>
                    <a:pt x="0" y="0"/>
                  </a:moveTo>
                  <a:lnTo>
                    <a:pt x="24384000" y="0"/>
                  </a:lnTo>
                  <a:lnTo>
                    <a:pt x="24384000" y="6143879"/>
                  </a:lnTo>
                  <a:lnTo>
                    <a:pt x="0" y="614387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"/>
              <a:stretch>
                <a:fillRect t="-67628" b="-17451"/>
              </a:stretch>
            </a:blipFill>
          </p:spPr>
        </p:sp>
      </p:grpSp>
      <p:sp>
        <p:nvSpPr>
          <p:cNvPr id="4" name="TextBox 4"/>
          <p:cNvSpPr txBox="1"/>
          <p:nvPr/>
        </p:nvSpPr>
        <p:spPr>
          <a:xfrm>
            <a:off x="4307596" y="1143000"/>
            <a:ext cx="9672807" cy="18722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570"/>
              </a:lnSpc>
            </a:pPr>
            <a:r>
              <a:rPr lang="en-US" sz="6820">
                <a:solidFill>
                  <a:srgbClr val="000000"/>
                </a:solidFill>
                <a:latin typeface="Oswald" panose="00000500000000000000"/>
                <a:ea typeface="Oswald" panose="00000500000000000000"/>
                <a:cs typeface="Oswald" panose="00000500000000000000"/>
                <a:sym typeface="Oswald" panose="00000500000000000000"/>
              </a:rPr>
              <a:t>Smart Inventory &amp; Supply Chain Management System</a:t>
            </a:r>
            <a:endParaRPr lang="en-US" sz="6820">
              <a:solidFill>
                <a:srgbClr val="000000"/>
              </a:solidFill>
              <a:latin typeface="Oswald" panose="00000500000000000000"/>
              <a:ea typeface="Oswald" panose="00000500000000000000"/>
              <a:cs typeface="Oswald" panose="00000500000000000000"/>
              <a:sym typeface="Oswald" panose="00000500000000000000"/>
            </a:endParaRPr>
          </a:p>
        </p:txBody>
      </p:sp>
      <p:sp>
        <p:nvSpPr>
          <p:cNvPr id="5" name="TextBox 5"/>
          <p:cNvSpPr txBox="1"/>
          <p:nvPr/>
        </p:nvSpPr>
        <p:spPr>
          <a:xfrm>
            <a:off x="2827230" y="3897566"/>
            <a:ext cx="13156615" cy="124593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50"/>
              </a:lnSpc>
            </a:pPr>
            <a:r>
              <a:rPr lang="en-US" sz="232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The Smart Inventory &amp; Supply Chain Management System streamlines stock control and supply processes by ensuring accurate tracking, reducing costs, and improving efficiency for timely product delivery.</a:t>
            </a:r>
            <a:endParaRPr lang="en-US" sz="2320">
              <a:solidFill>
                <a:srgbClr val="000000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grpSp>
        <p:nvGrpSpPr>
          <p:cNvPr id="6" name="Group 6"/>
          <p:cNvGrpSpPr/>
          <p:nvPr/>
        </p:nvGrpSpPr>
        <p:grpSpPr>
          <a:xfrm rot="0">
            <a:off x="13327010" y="-765197"/>
            <a:ext cx="5313671" cy="5108764"/>
            <a:chOff x="0" y="0"/>
            <a:chExt cx="7084895" cy="6811685"/>
          </a:xfrm>
        </p:grpSpPr>
        <p:sp>
          <p:nvSpPr>
            <p:cNvPr id="7" name="Freeform 7"/>
            <p:cNvSpPr/>
            <p:nvPr/>
          </p:nvSpPr>
          <p:spPr>
            <a:xfrm flipV="1">
              <a:off x="0" y="0"/>
              <a:ext cx="7084949" cy="6811645"/>
            </a:xfrm>
            <a:custGeom>
              <a:avLst/>
              <a:gdLst/>
              <a:ahLst/>
              <a:cxnLst/>
              <a:rect l="l" t="t" r="r" b="b"/>
              <a:pathLst>
                <a:path w="7084949" h="6811645">
                  <a:moveTo>
                    <a:pt x="0" y="6811645"/>
                  </a:moveTo>
                  <a:lnTo>
                    <a:pt x="7084949" y="6811645"/>
                  </a:lnTo>
                  <a:lnTo>
                    <a:pt x="7084949" y="0"/>
                  </a:lnTo>
                  <a:lnTo>
                    <a:pt x="0" y="0"/>
                  </a:lnTo>
                  <a:lnTo>
                    <a:pt x="0" y="6811645"/>
                  </a:lnTo>
                  <a:close/>
                </a:path>
              </a:pathLst>
            </a:custGeom>
            <a:blipFill>
              <a:blip r:embed="rId2"/>
              <a:stretch>
                <a:fillRect l="-22107" r="-22106"/>
              </a:stretch>
            </a:blipFill>
          </p:spPr>
        </p:sp>
      </p:grpSp>
      <p:grpSp>
        <p:nvGrpSpPr>
          <p:cNvPr id="8" name="Group 8"/>
          <p:cNvGrpSpPr/>
          <p:nvPr/>
        </p:nvGrpSpPr>
        <p:grpSpPr>
          <a:xfrm rot="0">
            <a:off x="-352681" y="-765197"/>
            <a:ext cx="5313671" cy="5108764"/>
            <a:chOff x="0" y="0"/>
            <a:chExt cx="7084895" cy="6811685"/>
          </a:xfrm>
        </p:grpSpPr>
        <p:sp>
          <p:nvSpPr>
            <p:cNvPr id="9" name="Freeform 9"/>
            <p:cNvSpPr/>
            <p:nvPr/>
          </p:nvSpPr>
          <p:spPr>
            <a:xfrm flipH="1" flipV="1">
              <a:off x="0" y="0"/>
              <a:ext cx="7084949" cy="6811645"/>
            </a:xfrm>
            <a:custGeom>
              <a:avLst/>
              <a:gdLst/>
              <a:ahLst/>
              <a:cxnLst/>
              <a:rect l="l" t="t" r="r" b="b"/>
              <a:pathLst>
                <a:path w="7084949" h="6811645">
                  <a:moveTo>
                    <a:pt x="7084949" y="6811645"/>
                  </a:moveTo>
                  <a:lnTo>
                    <a:pt x="0" y="6811645"/>
                  </a:lnTo>
                  <a:lnTo>
                    <a:pt x="0" y="0"/>
                  </a:lnTo>
                  <a:lnTo>
                    <a:pt x="7084949" y="0"/>
                  </a:lnTo>
                  <a:lnTo>
                    <a:pt x="7084949" y="6811645"/>
                  </a:lnTo>
                  <a:close/>
                </a:path>
              </a:pathLst>
            </a:custGeom>
            <a:blipFill>
              <a:blip r:embed="rId2"/>
              <a:stretch>
                <a:fillRect l="-22107" r="-22106"/>
              </a:stretch>
            </a:blipFill>
          </p:spPr>
        </p:sp>
      </p:grpSp>
      <p:sp>
        <p:nvSpPr>
          <p:cNvPr id="10" name="Freeform 10"/>
          <p:cNvSpPr/>
          <p:nvPr/>
        </p:nvSpPr>
        <p:spPr>
          <a:xfrm>
            <a:off x="-1370943" y="9624928"/>
            <a:ext cx="19658943" cy="776130"/>
          </a:xfrm>
          <a:custGeom>
            <a:avLst/>
            <a:gdLst/>
            <a:ahLst/>
            <a:cxnLst/>
            <a:rect l="l" t="t" r="r" b="b"/>
            <a:pathLst>
              <a:path w="19658943" h="776130">
                <a:moveTo>
                  <a:pt x="0" y="0"/>
                </a:moveTo>
                <a:lnTo>
                  <a:pt x="19658943" y="0"/>
                </a:lnTo>
                <a:lnTo>
                  <a:pt x="19658943" y="776130"/>
                </a:lnTo>
                <a:lnTo>
                  <a:pt x="0" y="77613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11" name="Freeform 11"/>
          <p:cNvSpPr/>
          <p:nvPr/>
        </p:nvSpPr>
        <p:spPr>
          <a:xfrm>
            <a:off x="16324744" y="8323744"/>
            <a:ext cx="3926512" cy="3926512"/>
          </a:xfrm>
          <a:custGeom>
            <a:avLst/>
            <a:gdLst/>
            <a:ahLst/>
            <a:cxnLst/>
            <a:rect l="l" t="t" r="r" b="b"/>
            <a:pathLst>
              <a:path w="3926512" h="3926512">
                <a:moveTo>
                  <a:pt x="0" y="0"/>
                </a:moveTo>
                <a:lnTo>
                  <a:pt x="3926512" y="0"/>
                </a:lnTo>
                <a:lnTo>
                  <a:pt x="3926512" y="3926512"/>
                </a:lnTo>
                <a:lnTo>
                  <a:pt x="0" y="3926512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0">
            <a:off x="9646396" y="7067195"/>
            <a:ext cx="11116569" cy="4692747"/>
            <a:chOff x="0" y="0"/>
            <a:chExt cx="14822092" cy="6256996"/>
          </a:xfrm>
        </p:grpSpPr>
        <p:sp>
          <p:nvSpPr>
            <p:cNvPr id="3" name="Freeform 3"/>
            <p:cNvSpPr/>
            <p:nvPr/>
          </p:nvSpPr>
          <p:spPr>
            <a:xfrm flipV="1">
              <a:off x="0" y="0"/>
              <a:ext cx="14822043" cy="6257036"/>
            </a:xfrm>
            <a:custGeom>
              <a:avLst/>
              <a:gdLst/>
              <a:ahLst/>
              <a:cxnLst/>
              <a:rect l="l" t="t" r="r" b="b"/>
              <a:pathLst>
                <a:path w="14822043" h="6257036">
                  <a:moveTo>
                    <a:pt x="0" y="6257036"/>
                  </a:moveTo>
                  <a:lnTo>
                    <a:pt x="14822043" y="6257036"/>
                  </a:lnTo>
                  <a:lnTo>
                    <a:pt x="14822043" y="0"/>
                  </a:lnTo>
                  <a:lnTo>
                    <a:pt x="0" y="0"/>
                  </a:lnTo>
                  <a:lnTo>
                    <a:pt x="0" y="6257036"/>
                  </a:lnTo>
                  <a:close/>
                </a:path>
              </a:pathLst>
            </a:custGeom>
            <a:blipFill>
              <a:blip r:embed="rId1"/>
              <a:stretch>
                <a:fillRect l="-17019" r="-17019"/>
              </a:stretch>
            </a:blipFill>
          </p:spPr>
        </p:sp>
      </p:grpSp>
      <p:pic>
        <p:nvPicPr>
          <p:cNvPr id="11" name="Picture 10" descr="0-FJ6hcl0mraP63fm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45520" y="-121285"/>
            <a:ext cx="7256780" cy="9857740"/>
          </a:xfrm>
          <a:prstGeom prst="rect">
            <a:avLst/>
          </a:prstGeom>
        </p:spPr>
      </p:pic>
      <p:sp>
        <p:nvSpPr>
          <p:cNvPr id="6" name="Freeform 6"/>
          <p:cNvSpPr/>
          <p:nvPr/>
        </p:nvSpPr>
        <p:spPr>
          <a:xfrm>
            <a:off x="-1370943" y="9624928"/>
            <a:ext cx="19658943" cy="776130"/>
          </a:xfrm>
          <a:custGeom>
            <a:avLst/>
            <a:gdLst/>
            <a:ahLst/>
            <a:cxnLst/>
            <a:rect l="l" t="t" r="r" b="b"/>
            <a:pathLst>
              <a:path w="19658943" h="776130">
                <a:moveTo>
                  <a:pt x="0" y="0"/>
                </a:moveTo>
                <a:lnTo>
                  <a:pt x="19658943" y="0"/>
                </a:lnTo>
                <a:lnTo>
                  <a:pt x="19658943" y="776130"/>
                </a:lnTo>
                <a:lnTo>
                  <a:pt x="0" y="77613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16230600" y="8191500"/>
            <a:ext cx="4484370" cy="4369435"/>
          </a:xfrm>
          <a:custGeom>
            <a:avLst/>
            <a:gdLst/>
            <a:ahLst/>
            <a:cxnLst/>
            <a:rect l="l" t="t" r="r" b="b"/>
            <a:pathLst>
              <a:path w="3926512" h="3926512">
                <a:moveTo>
                  <a:pt x="0" y="0"/>
                </a:moveTo>
                <a:lnTo>
                  <a:pt x="3926512" y="0"/>
                </a:lnTo>
                <a:lnTo>
                  <a:pt x="3926512" y="3926512"/>
                </a:lnTo>
                <a:lnTo>
                  <a:pt x="0" y="3926512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8" name="TextBox 8"/>
          <p:cNvSpPr txBox="1"/>
          <p:nvPr/>
        </p:nvSpPr>
        <p:spPr>
          <a:xfrm>
            <a:off x="970771" y="1020438"/>
            <a:ext cx="7177376" cy="9259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570"/>
              </a:lnSpc>
            </a:pPr>
            <a:r>
              <a:rPr lang="en-US" sz="6760">
                <a:solidFill>
                  <a:srgbClr val="000000"/>
                </a:solidFill>
                <a:latin typeface="Oswald" panose="00000500000000000000"/>
                <a:ea typeface="Oswald" panose="00000500000000000000"/>
                <a:cs typeface="Oswald" panose="00000500000000000000"/>
                <a:sym typeface="Oswald" panose="00000500000000000000"/>
              </a:rPr>
              <a:t> Problem &amp; Soulation</a:t>
            </a:r>
            <a:endParaRPr lang="en-US" sz="6760">
              <a:solidFill>
                <a:srgbClr val="000000"/>
              </a:solidFill>
              <a:latin typeface="Oswald" panose="00000500000000000000"/>
              <a:ea typeface="Oswald" panose="00000500000000000000"/>
              <a:cs typeface="Oswald" panose="00000500000000000000"/>
              <a:sym typeface="Oswald" panose="00000500000000000000"/>
            </a:endParaRPr>
          </a:p>
        </p:txBody>
      </p:sp>
      <p:sp>
        <p:nvSpPr>
          <p:cNvPr id="9" name="TextBox 9"/>
          <p:cNvSpPr txBox="1"/>
          <p:nvPr/>
        </p:nvSpPr>
        <p:spPr>
          <a:xfrm>
            <a:off x="1222656" y="2532384"/>
            <a:ext cx="8423740" cy="4941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740"/>
              </a:lnSpc>
            </a:pPr>
            <a:r>
              <a:rPr lang="en-US" sz="2670" b="1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Challenges in Traditional Inventory Management</a:t>
            </a:r>
            <a:endParaRPr lang="en-US" sz="2670" b="1">
              <a:solidFill>
                <a:srgbClr val="000000"/>
              </a:solidFill>
              <a:latin typeface="DM Sans Bold"/>
              <a:ea typeface="DM Sans Bold"/>
              <a:cs typeface="DM Sans Bold"/>
              <a:sym typeface="DM Sans Bold"/>
            </a:endParaRPr>
          </a:p>
        </p:txBody>
      </p:sp>
      <p:sp>
        <p:nvSpPr>
          <p:cNvPr id="10" name="TextBox 10"/>
          <p:cNvSpPr txBox="1"/>
          <p:nvPr/>
        </p:nvSpPr>
        <p:spPr>
          <a:xfrm>
            <a:off x="970771" y="3345909"/>
            <a:ext cx="9998009" cy="33235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46735" lvl="2" indent="-182245" algn="just">
              <a:lnSpc>
                <a:spcPct val="150000"/>
              </a:lnSpc>
              <a:buFont typeface="Arial" panose="020B0604020202020204"/>
              <a:buChar char="⚬"/>
            </a:pPr>
            <a:r>
              <a:rPr lang="en-US" sz="2400" b="1">
                <a:solidFill>
                  <a:schemeClr val="tx2">
                    <a:lumMod val="75000"/>
                  </a:schemeClr>
                </a:solidFill>
                <a:latin typeface="DM Sans"/>
                <a:ea typeface="DM Sans"/>
                <a:cs typeface="DM Sans"/>
                <a:sym typeface="DM Sans"/>
              </a:rPr>
              <a:t>Manual stock tracking</a:t>
            </a:r>
            <a:r>
              <a:rPr lang="en-US" sz="2400" b="1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240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→ Phone to errors, mismatched records, and slow decision-making.</a:t>
            </a:r>
            <a:endParaRPr lang="en-US" sz="2400">
              <a:solidFill>
                <a:srgbClr val="000000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546735" lvl="2" indent="-182245" algn="just">
              <a:lnSpc>
                <a:spcPct val="150000"/>
              </a:lnSpc>
              <a:buFont typeface="Arial" panose="020B0604020202020204"/>
              <a:buChar char="⚬"/>
            </a:pPr>
            <a:r>
              <a:rPr lang="en-US" sz="2400" b="1">
                <a:solidFill>
                  <a:schemeClr val="tx2">
                    <a:lumMod val="75000"/>
                  </a:schemeClr>
                </a:solidFill>
                <a:latin typeface="DM Sans"/>
                <a:ea typeface="DM Sans"/>
                <a:cs typeface="DM Sans"/>
                <a:sym typeface="DM Sans"/>
              </a:rPr>
              <a:t>Lack of transparency</a:t>
            </a:r>
            <a:r>
              <a:rPr lang="en-US" sz="240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 → Difficult to monitor inbound and outbound shipments effectively.</a:t>
            </a:r>
            <a:endParaRPr lang="en-US" sz="2400">
              <a:solidFill>
                <a:srgbClr val="000000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546735" lvl="2" indent="-182245" algn="just">
              <a:lnSpc>
                <a:spcPct val="150000"/>
              </a:lnSpc>
              <a:buFont typeface="Arial" panose="020B0604020202020204"/>
              <a:buChar char="⚬"/>
            </a:pPr>
            <a:r>
              <a:rPr lang="en-US" sz="2400" b="1">
                <a:solidFill>
                  <a:schemeClr val="tx2">
                    <a:lumMod val="75000"/>
                  </a:schemeClr>
                </a:solidFill>
                <a:latin typeface="DM Sans"/>
                <a:ea typeface="DM Sans"/>
                <a:cs typeface="DM Sans"/>
                <a:sym typeface="DM Sans"/>
              </a:rPr>
              <a:t>Poor reporting</a:t>
            </a:r>
            <a:r>
              <a:rPr lang="en-US" sz="240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 → Managers miss timely insights for decision-making.</a:t>
            </a:r>
            <a:endParaRPr lang="en-US" sz="2400">
              <a:solidFill>
                <a:srgbClr val="000000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0">
            <a:off x="9646396" y="7067195"/>
            <a:ext cx="11116569" cy="4692747"/>
            <a:chOff x="0" y="0"/>
            <a:chExt cx="14822092" cy="6256996"/>
          </a:xfrm>
        </p:grpSpPr>
        <p:sp>
          <p:nvSpPr>
            <p:cNvPr id="3" name="Freeform 3"/>
            <p:cNvSpPr/>
            <p:nvPr/>
          </p:nvSpPr>
          <p:spPr>
            <a:xfrm flipV="1">
              <a:off x="0" y="0"/>
              <a:ext cx="14822043" cy="6257036"/>
            </a:xfrm>
            <a:custGeom>
              <a:avLst/>
              <a:gdLst/>
              <a:ahLst/>
              <a:cxnLst/>
              <a:rect l="l" t="t" r="r" b="b"/>
              <a:pathLst>
                <a:path w="14822043" h="6257036">
                  <a:moveTo>
                    <a:pt x="0" y="6257036"/>
                  </a:moveTo>
                  <a:lnTo>
                    <a:pt x="14822043" y="6257036"/>
                  </a:lnTo>
                  <a:lnTo>
                    <a:pt x="14822043" y="0"/>
                  </a:lnTo>
                  <a:lnTo>
                    <a:pt x="0" y="0"/>
                  </a:lnTo>
                  <a:lnTo>
                    <a:pt x="0" y="6257036"/>
                  </a:lnTo>
                  <a:close/>
                </a:path>
              </a:pathLst>
            </a:custGeom>
            <a:blipFill>
              <a:blip r:embed="rId1"/>
              <a:stretch>
                <a:fillRect l="-17019" r="-17019"/>
              </a:stretch>
            </a:blipFill>
          </p:spPr>
        </p:sp>
      </p:grpSp>
      <p:grpSp>
        <p:nvGrpSpPr>
          <p:cNvPr id="4" name="Group 4"/>
          <p:cNvGrpSpPr>
            <a:grpSpLocks noChangeAspect="1"/>
          </p:cNvGrpSpPr>
          <p:nvPr/>
        </p:nvGrpSpPr>
        <p:grpSpPr>
          <a:xfrm rot="0">
            <a:off x="12121361" y="0"/>
            <a:ext cx="6166639" cy="10287000"/>
            <a:chOff x="0" y="0"/>
            <a:chExt cx="8222185" cy="13716000"/>
          </a:xfrm>
        </p:grpSpPr>
        <p:sp>
          <p:nvSpPr>
            <p:cNvPr id="5" name="Freeform 5"/>
            <p:cNvSpPr/>
            <p:nvPr/>
          </p:nvSpPr>
          <p:spPr>
            <a:xfrm flipH="1">
              <a:off x="0" y="0"/>
              <a:ext cx="8222234" cy="13716000"/>
            </a:xfrm>
            <a:custGeom>
              <a:avLst/>
              <a:gdLst/>
              <a:ahLst/>
              <a:cxnLst/>
              <a:rect l="l" t="t" r="r" b="b"/>
              <a:pathLst>
                <a:path w="8222234" h="13716000">
                  <a:moveTo>
                    <a:pt x="8222234" y="0"/>
                  </a:moveTo>
                  <a:lnTo>
                    <a:pt x="0" y="0"/>
                  </a:lnTo>
                  <a:lnTo>
                    <a:pt x="0" y="13716000"/>
                  </a:lnTo>
                  <a:lnTo>
                    <a:pt x="8222234" y="13716000"/>
                  </a:lnTo>
                  <a:lnTo>
                    <a:pt x="8222234" y="0"/>
                  </a:lnTo>
                  <a:close/>
                </a:path>
              </a:pathLst>
            </a:custGeom>
            <a:blipFill>
              <a:blip r:embed="rId2"/>
              <a:stretch>
                <a:fillRect l="-84186" r="-65988"/>
              </a:stretch>
            </a:blipFill>
          </p:spPr>
        </p:sp>
      </p:grpSp>
      <p:sp>
        <p:nvSpPr>
          <p:cNvPr id="6" name="Freeform 6"/>
          <p:cNvSpPr/>
          <p:nvPr/>
        </p:nvSpPr>
        <p:spPr>
          <a:xfrm>
            <a:off x="-1370943" y="9624928"/>
            <a:ext cx="19658943" cy="776130"/>
          </a:xfrm>
          <a:custGeom>
            <a:avLst/>
            <a:gdLst/>
            <a:ahLst/>
            <a:cxnLst/>
            <a:rect l="l" t="t" r="r" b="b"/>
            <a:pathLst>
              <a:path w="19658943" h="776130">
                <a:moveTo>
                  <a:pt x="0" y="0"/>
                </a:moveTo>
                <a:lnTo>
                  <a:pt x="19658943" y="0"/>
                </a:lnTo>
                <a:lnTo>
                  <a:pt x="19658943" y="776130"/>
                </a:lnTo>
                <a:lnTo>
                  <a:pt x="0" y="77613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16324744" y="8323744"/>
            <a:ext cx="3926512" cy="3926512"/>
          </a:xfrm>
          <a:custGeom>
            <a:avLst/>
            <a:gdLst/>
            <a:ahLst/>
            <a:cxnLst/>
            <a:rect l="l" t="t" r="r" b="b"/>
            <a:pathLst>
              <a:path w="3926512" h="3926512">
                <a:moveTo>
                  <a:pt x="0" y="0"/>
                </a:moveTo>
                <a:lnTo>
                  <a:pt x="3926512" y="0"/>
                </a:lnTo>
                <a:lnTo>
                  <a:pt x="3926512" y="3926512"/>
                </a:lnTo>
                <a:lnTo>
                  <a:pt x="0" y="3926512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8" name="TextBox 8"/>
          <p:cNvSpPr txBox="1"/>
          <p:nvPr/>
        </p:nvSpPr>
        <p:spPr>
          <a:xfrm>
            <a:off x="970771" y="1020438"/>
            <a:ext cx="7177376" cy="9259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570"/>
              </a:lnSpc>
            </a:pPr>
            <a:r>
              <a:rPr lang="en-US" sz="6760">
                <a:solidFill>
                  <a:srgbClr val="000000"/>
                </a:solidFill>
                <a:latin typeface="Oswald" panose="00000500000000000000"/>
                <a:ea typeface="Oswald" panose="00000500000000000000"/>
                <a:cs typeface="Oswald" panose="00000500000000000000"/>
                <a:sym typeface="Oswald" panose="00000500000000000000"/>
              </a:rPr>
              <a:t> Problem &amp; Soulation</a:t>
            </a:r>
            <a:endParaRPr lang="en-US" sz="6760">
              <a:solidFill>
                <a:srgbClr val="000000"/>
              </a:solidFill>
              <a:latin typeface="Oswald" panose="00000500000000000000"/>
              <a:ea typeface="Oswald" panose="00000500000000000000"/>
              <a:cs typeface="Oswald" panose="00000500000000000000"/>
              <a:sym typeface="Oswald" panose="00000500000000000000"/>
            </a:endParaRPr>
          </a:p>
        </p:txBody>
      </p:sp>
      <p:sp>
        <p:nvSpPr>
          <p:cNvPr id="9" name="TextBox 9"/>
          <p:cNvSpPr txBox="1"/>
          <p:nvPr/>
        </p:nvSpPr>
        <p:spPr>
          <a:xfrm>
            <a:off x="1082553" y="2745691"/>
            <a:ext cx="7768162" cy="4821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740"/>
              </a:lnSpc>
            </a:pPr>
            <a:r>
              <a:rPr lang="en-US" sz="2670" b="1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Our Solution</a:t>
            </a:r>
            <a:endParaRPr lang="en-US" sz="2670" b="1">
              <a:solidFill>
                <a:srgbClr val="000000"/>
              </a:solidFill>
              <a:latin typeface="DM Sans Bold"/>
              <a:ea typeface="DM Sans Bold"/>
              <a:cs typeface="DM Sans Bold"/>
              <a:sym typeface="DM Sans Bold"/>
            </a:endParaRPr>
          </a:p>
        </p:txBody>
      </p:sp>
      <p:sp>
        <p:nvSpPr>
          <p:cNvPr id="10" name="TextBox 10"/>
          <p:cNvSpPr txBox="1"/>
          <p:nvPr/>
        </p:nvSpPr>
        <p:spPr>
          <a:xfrm>
            <a:off x="735415" y="3286583"/>
            <a:ext cx="10296969" cy="44316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54990" lvl="2" indent="-184785" algn="just">
              <a:lnSpc>
                <a:spcPct val="150000"/>
              </a:lnSpc>
              <a:buFont typeface="Arial" panose="020B0604020202020204"/>
              <a:buChar char="⚬"/>
            </a:pPr>
            <a:r>
              <a:rPr lang="en-US" sz="2400" b="1">
                <a:solidFill>
                  <a:schemeClr val="tx2">
                    <a:lumMod val="75000"/>
                  </a:schemeClr>
                </a:solidFill>
                <a:latin typeface="DM Sans"/>
                <a:ea typeface="DM Sans"/>
                <a:cs typeface="DM Sans"/>
                <a:sym typeface="DM Sans"/>
              </a:rPr>
              <a:t>Automated logs</a:t>
            </a:r>
            <a:r>
              <a:rPr lang="en-US" sz="240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 → Inbound and outbound stock tracking with accuracy.</a:t>
            </a:r>
            <a:endParaRPr lang="en-US" sz="2400">
              <a:solidFill>
                <a:srgbClr val="000000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554990" lvl="2" indent="-184785" algn="just">
              <a:lnSpc>
                <a:spcPct val="150000"/>
              </a:lnSpc>
              <a:buFont typeface="Arial" panose="020B0604020202020204"/>
              <a:buChar char="⚬"/>
            </a:pPr>
            <a:r>
              <a:rPr lang="en-US" sz="2400" b="1">
                <a:solidFill>
                  <a:schemeClr val="tx2">
                    <a:lumMod val="75000"/>
                  </a:schemeClr>
                </a:solidFill>
                <a:latin typeface="DM Sans"/>
                <a:ea typeface="DM Sans"/>
                <a:cs typeface="DM Sans"/>
                <a:sym typeface="DM Sans"/>
              </a:rPr>
              <a:t>Integration</a:t>
            </a:r>
            <a:r>
              <a:rPr lang="en-US" sz="240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 → Suppliers and shipments connected for better transparency.</a:t>
            </a:r>
            <a:endParaRPr lang="en-US" sz="2400">
              <a:solidFill>
                <a:srgbClr val="000000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554990" lvl="2" indent="-184785" algn="just">
              <a:lnSpc>
                <a:spcPct val="150000"/>
              </a:lnSpc>
              <a:buFont typeface="Arial" panose="020B0604020202020204"/>
              <a:buChar char="⚬"/>
            </a:pPr>
            <a:r>
              <a:rPr lang="en-US" sz="2400" b="1">
                <a:solidFill>
                  <a:schemeClr val="tx2">
                    <a:lumMod val="75000"/>
                  </a:schemeClr>
                </a:solidFill>
                <a:latin typeface="DM Sans"/>
                <a:ea typeface="DM Sans"/>
                <a:cs typeface="DM Sans"/>
                <a:sym typeface="DM Sans"/>
              </a:rPr>
              <a:t>Real-time insights</a:t>
            </a:r>
            <a:r>
              <a:rPr lang="en-US" sz="240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 → Queries and triggers provide up-to-date reports.</a:t>
            </a:r>
            <a:endParaRPr lang="en-US" sz="2400">
              <a:solidFill>
                <a:srgbClr val="000000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554990" lvl="2" indent="-184785" algn="just">
              <a:lnSpc>
                <a:spcPct val="150000"/>
              </a:lnSpc>
              <a:buFont typeface="Arial" panose="020B0604020202020204"/>
              <a:buChar char="⚬"/>
            </a:pPr>
            <a:r>
              <a:rPr lang="en-US" sz="2400" b="1">
                <a:solidFill>
                  <a:schemeClr val="tx2">
                    <a:lumMod val="75000"/>
                  </a:schemeClr>
                </a:solidFill>
                <a:latin typeface="DM Sans"/>
                <a:ea typeface="DM Sans"/>
                <a:cs typeface="DM Sans"/>
                <a:sym typeface="DM Sans"/>
              </a:rPr>
              <a:t>Improved reliability</a:t>
            </a:r>
            <a:r>
              <a:rPr lang="en-US" sz="240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 → System ensures professionalism compared to manual methods</a:t>
            </a:r>
            <a:endParaRPr lang="en-US" sz="2400">
              <a:solidFill>
                <a:srgbClr val="000000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857377" y="-180826"/>
            <a:ext cx="12586083" cy="10581884"/>
          </a:xfrm>
          <a:custGeom>
            <a:avLst/>
            <a:gdLst/>
            <a:ahLst/>
            <a:cxnLst/>
            <a:rect l="l" t="t" r="r" b="b"/>
            <a:pathLst>
              <a:path w="12586083" h="10581884">
                <a:moveTo>
                  <a:pt x="0" y="0"/>
                </a:moveTo>
                <a:lnTo>
                  <a:pt x="12586083" y="0"/>
                </a:lnTo>
                <a:lnTo>
                  <a:pt x="12586083" y="10581884"/>
                </a:lnTo>
                <a:lnTo>
                  <a:pt x="0" y="10581884"/>
                </a:lnTo>
                <a:lnTo>
                  <a:pt x="0" y="0"/>
                </a:lnTo>
                <a:close/>
              </a:path>
            </a:pathLst>
          </a:custGeom>
          <a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-1370943" y="9624928"/>
            <a:ext cx="19658943" cy="776130"/>
          </a:xfrm>
          <a:custGeom>
            <a:avLst/>
            <a:gdLst/>
            <a:ahLst/>
            <a:cxnLst/>
            <a:rect l="l" t="t" r="r" b="b"/>
            <a:pathLst>
              <a:path w="19658943" h="776130">
                <a:moveTo>
                  <a:pt x="0" y="0"/>
                </a:moveTo>
                <a:lnTo>
                  <a:pt x="19658943" y="0"/>
                </a:lnTo>
                <a:lnTo>
                  <a:pt x="19658943" y="776130"/>
                </a:lnTo>
                <a:lnTo>
                  <a:pt x="0" y="77613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16324744" y="8323744"/>
            <a:ext cx="3926512" cy="3926512"/>
          </a:xfrm>
          <a:custGeom>
            <a:avLst/>
            <a:gdLst/>
            <a:ahLst/>
            <a:cxnLst/>
            <a:rect l="l" t="t" r="r" b="b"/>
            <a:pathLst>
              <a:path w="3926512" h="3926512">
                <a:moveTo>
                  <a:pt x="0" y="0"/>
                </a:moveTo>
                <a:lnTo>
                  <a:pt x="3926512" y="0"/>
                </a:lnTo>
                <a:lnTo>
                  <a:pt x="3926512" y="3926512"/>
                </a:lnTo>
                <a:lnTo>
                  <a:pt x="0" y="3926512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5" name="TextBox 5"/>
          <p:cNvSpPr txBox="1"/>
          <p:nvPr/>
        </p:nvSpPr>
        <p:spPr>
          <a:xfrm>
            <a:off x="892285" y="1839979"/>
            <a:ext cx="10884046" cy="20116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760"/>
              </a:lnSpc>
            </a:pPr>
            <a:r>
              <a:rPr lang="en-US" sz="2400" b="1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Key Tables</a:t>
            </a:r>
            <a:endParaRPr lang="en-US" sz="2400" b="1">
              <a:solidFill>
                <a:srgbClr val="000000"/>
              </a:solidFill>
              <a:latin typeface="DM Sans Bold"/>
              <a:ea typeface="DM Sans Bold"/>
              <a:cs typeface="DM Sans Bold"/>
              <a:sym typeface="DM Sans Bold"/>
            </a:endParaRPr>
          </a:p>
          <a:p>
            <a:pPr algn="l">
              <a:lnSpc>
                <a:spcPts val="4760"/>
              </a:lnSpc>
            </a:pPr>
            <a:r>
              <a:rPr lang="en-US" sz="240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Users, Suppliers, Products, order, Shipments, Supplier_Shipments, Inventory_Logs</a:t>
            </a:r>
            <a:endParaRPr lang="en-US" sz="2400">
              <a:solidFill>
                <a:srgbClr val="000000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6" name="TextBox 6"/>
          <p:cNvSpPr txBox="1"/>
          <p:nvPr/>
        </p:nvSpPr>
        <p:spPr>
          <a:xfrm>
            <a:off x="873235" y="4324092"/>
            <a:ext cx="7553920" cy="32327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760"/>
              </a:lnSpc>
            </a:pPr>
            <a:r>
              <a:rPr lang="en-US" sz="240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Some important relationships include:</a:t>
            </a:r>
            <a:endParaRPr lang="en-US" sz="2400">
              <a:solidFill>
                <a:srgbClr val="000000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algn="l">
              <a:lnSpc>
                <a:spcPts val="4760"/>
              </a:lnSpc>
            </a:pPr>
            <a:r>
              <a:rPr lang="en-US" sz="240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Users - Orders</a:t>
            </a:r>
            <a:endParaRPr lang="en-US" sz="2400">
              <a:solidFill>
                <a:srgbClr val="000000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algn="l">
              <a:lnSpc>
                <a:spcPts val="4760"/>
              </a:lnSpc>
            </a:pPr>
            <a:r>
              <a:rPr lang="en-US" sz="240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Products - Suppliers</a:t>
            </a:r>
            <a:endParaRPr lang="en-US" sz="2400">
              <a:solidFill>
                <a:srgbClr val="000000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algn="l">
              <a:lnSpc>
                <a:spcPts val="4760"/>
              </a:lnSpc>
            </a:pPr>
            <a:r>
              <a:rPr lang="en-US" sz="240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Orders - Shipments</a:t>
            </a:r>
            <a:endParaRPr lang="en-US" sz="2400">
              <a:solidFill>
                <a:srgbClr val="000000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algn="l">
              <a:lnSpc>
                <a:spcPts val="4760"/>
              </a:lnSpc>
            </a:pPr>
            <a:r>
              <a:rPr lang="en-US" sz="240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Inventory logs track every change</a:t>
            </a:r>
            <a:endParaRPr lang="en-US" sz="2400">
              <a:solidFill>
                <a:srgbClr val="000000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grpSp>
        <p:nvGrpSpPr>
          <p:cNvPr id="7" name="Group 7"/>
          <p:cNvGrpSpPr>
            <a:grpSpLocks noChangeAspect="1"/>
          </p:cNvGrpSpPr>
          <p:nvPr/>
        </p:nvGrpSpPr>
        <p:grpSpPr>
          <a:xfrm rot="0">
            <a:off x="7747686" y="3185143"/>
            <a:ext cx="8806701" cy="4511031"/>
            <a:chOff x="0" y="0"/>
            <a:chExt cx="12488940" cy="6397173"/>
          </a:xfrm>
        </p:grpSpPr>
        <p:sp>
          <p:nvSpPr>
            <p:cNvPr id="8" name="Freeform 8" descr="A screenshot of a computer&#10;&#10;AI-generated content may be incorrect."/>
            <p:cNvSpPr/>
            <p:nvPr/>
          </p:nvSpPr>
          <p:spPr>
            <a:xfrm>
              <a:off x="0" y="0"/>
              <a:ext cx="12488926" cy="6397117"/>
            </a:xfrm>
            <a:custGeom>
              <a:avLst/>
              <a:gdLst/>
              <a:ahLst/>
              <a:cxnLst/>
              <a:rect l="l" t="t" r="r" b="b"/>
              <a:pathLst>
                <a:path w="12488926" h="6397117">
                  <a:moveTo>
                    <a:pt x="0" y="0"/>
                  </a:moveTo>
                  <a:lnTo>
                    <a:pt x="12488926" y="0"/>
                  </a:lnTo>
                  <a:lnTo>
                    <a:pt x="12488926" y="6397117"/>
                  </a:lnTo>
                  <a:lnTo>
                    <a:pt x="0" y="639711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t="-650" b="-651"/>
              </a:stretch>
            </a:blipFill>
          </p:spPr>
        </p:sp>
      </p:grpSp>
      <p:sp>
        <p:nvSpPr>
          <p:cNvPr id="9" name="TextBox 9"/>
          <p:cNvSpPr txBox="1"/>
          <p:nvPr/>
        </p:nvSpPr>
        <p:spPr>
          <a:xfrm>
            <a:off x="684023" y="852058"/>
            <a:ext cx="8303136" cy="9259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570"/>
              </a:lnSpc>
            </a:pPr>
            <a:r>
              <a:rPr lang="en-US" sz="6760">
                <a:solidFill>
                  <a:srgbClr val="000000"/>
                </a:solidFill>
                <a:latin typeface="Oswald" panose="00000500000000000000"/>
                <a:ea typeface="Oswald" panose="00000500000000000000"/>
                <a:cs typeface="Oswald" panose="00000500000000000000"/>
                <a:sym typeface="Oswald" panose="00000500000000000000"/>
              </a:rPr>
              <a:t> Database Desig Overview</a:t>
            </a:r>
            <a:endParaRPr lang="en-US" sz="6760">
              <a:solidFill>
                <a:srgbClr val="000000"/>
              </a:solidFill>
              <a:latin typeface="Oswald" panose="00000500000000000000"/>
              <a:ea typeface="Oswald" panose="00000500000000000000"/>
              <a:cs typeface="Oswald" panose="00000500000000000000"/>
              <a:sym typeface="Oswald" panose="00000500000000000000"/>
            </a:endParaRPr>
          </a:p>
        </p:txBody>
      </p:sp>
      <p:sp>
        <p:nvSpPr>
          <p:cNvPr id="10" name="TextBox 10"/>
          <p:cNvSpPr txBox="1"/>
          <p:nvPr/>
        </p:nvSpPr>
        <p:spPr>
          <a:xfrm>
            <a:off x="844660" y="7991210"/>
            <a:ext cx="10629892" cy="7912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760"/>
              </a:lnSpc>
            </a:pPr>
            <a:r>
              <a:rPr lang="en-US" sz="2400" b="1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Why its professional: normalized, scalable, enforces integrity</a:t>
            </a:r>
            <a:endParaRPr lang="en-US" sz="2400" b="1">
              <a:solidFill>
                <a:srgbClr val="000000"/>
              </a:solidFill>
              <a:latin typeface="DM Sans Bold"/>
              <a:ea typeface="DM Sans Bold"/>
              <a:cs typeface="DM Sans Bold"/>
              <a:sym typeface="DM Sans Bold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0">
            <a:off x="11015730" y="0"/>
            <a:ext cx="11582836" cy="6681447"/>
            <a:chOff x="0" y="0"/>
            <a:chExt cx="15443781" cy="8908596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5443836" cy="8908542"/>
            </a:xfrm>
            <a:custGeom>
              <a:avLst/>
              <a:gdLst/>
              <a:ahLst/>
              <a:cxnLst/>
              <a:rect l="l" t="t" r="r" b="b"/>
              <a:pathLst>
                <a:path w="15443836" h="8908542">
                  <a:moveTo>
                    <a:pt x="0" y="0"/>
                  </a:moveTo>
                  <a:lnTo>
                    <a:pt x="15443836" y="0"/>
                  </a:lnTo>
                  <a:lnTo>
                    <a:pt x="15443836" y="8908542"/>
                  </a:lnTo>
                  <a:lnTo>
                    <a:pt x="0" y="890854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"/>
              <a:stretch>
                <a:fillRect l="-41579" r="-41579"/>
              </a:stretch>
            </a:blipFill>
          </p:spPr>
        </p:sp>
      </p:grpSp>
      <p:grpSp>
        <p:nvGrpSpPr>
          <p:cNvPr id="4" name="Group 4"/>
          <p:cNvGrpSpPr/>
          <p:nvPr/>
        </p:nvGrpSpPr>
        <p:grpSpPr>
          <a:xfrm rot="0">
            <a:off x="12337133" y="964152"/>
            <a:ext cx="8940030" cy="8940030"/>
            <a:chOff x="0" y="0"/>
            <a:chExt cx="11920040" cy="1192004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11920093" cy="11920093"/>
            </a:xfrm>
            <a:custGeom>
              <a:avLst/>
              <a:gdLst/>
              <a:ahLst/>
              <a:cxnLst/>
              <a:rect l="l" t="t" r="r" b="b"/>
              <a:pathLst>
                <a:path w="11920093" h="11920093">
                  <a:moveTo>
                    <a:pt x="5959983" y="0"/>
                  </a:moveTo>
                  <a:lnTo>
                    <a:pt x="11920093" y="5959983"/>
                  </a:lnTo>
                  <a:lnTo>
                    <a:pt x="5959983" y="11920093"/>
                  </a:lnTo>
                  <a:lnTo>
                    <a:pt x="0" y="5959983"/>
                  </a:lnTo>
                  <a:lnTo>
                    <a:pt x="5959983" y="0"/>
                  </a:lnTo>
                  <a:close/>
                </a:path>
              </a:pathLst>
            </a:custGeom>
            <a:blipFill>
              <a:blip r:embed="rId2"/>
              <a:stretch>
                <a:fillRect l="-24999" r="-24999"/>
              </a:stretch>
            </a:blipFill>
          </p:spPr>
        </p:sp>
      </p:grpSp>
      <p:grpSp>
        <p:nvGrpSpPr>
          <p:cNvPr id="6" name="Group 6"/>
          <p:cNvGrpSpPr/>
          <p:nvPr/>
        </p:nvGrpSpPr>
        <p:grpSpPr>
          <a:xfrm rot="0">
            <a:off x="7550451" y="5733864"/>
            <a:ext cx="8940030" cy="8940030"/>
            <a:chOff x="0" y="0"/>
            <a:chExt cx="11920040" cy="1192004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1920093" cy="11920093"/>
            </a:xfrm>
            <a:custGeom>
              <a:avLst/>
              <a:gdLst/>
              <a:ahLst/>
              <a:cxnLst/>
              <a:rect l="l" t="t" r="r" b="b"/>
              <a:pathLst>
                <a:path w="11920093" h="11920093">
                  <a:moveTo>
                    <a:pt x="5959983" y="0"/>
                  </a:moveTo>
                  <a:lnTo>
                    <a:pt x="11920093" y="5959983"/>
                  </a:lnTo>
                  <a:lnTo>
                    <a:pt x="5959983" y="11920093"/>
                  </a:lnTo>
                  <a:lnTo>
                    <a:pt x="0" y="5959983"/>
                  </a:lnTo>
                  <a:lnTo>
                    <a:pt x="5959983" y="0"/>
                  </a:lnTo>
                  <a:close/>
                </a:path>
              </a:pathLst>
            </a:custGeom>
            <a:blipFill>
              <a:blip r:embed="rId3"/>
              <a:stretch>
                <a:fillRect l="-24906" r="-24906"/>
              </a:stretch>
            </a:blipFill>
          </p:spPr>
        </p:sp>
      </p:grpSp>
      <p:sp>
        <p:nvSpPr>
          <p:cNvPr id="8" name="Freeform 8"/>
          <p:cNvSpPr/>
          <p:nvPr/>
        </p:nvSpPr>
        <p:spPr>
          <a:xfrm>
            <a:off x="-1370943" y="9624928"/>
            <a:ext cx="19658943" cy="776130"/>
          </a:xfrm>
          <a:custGeom>
            <a:avLst/>
            <a:gdLst/>
            <a:ahLst/>
            <a:cxnLst/>
            <a:rect l="l" t="t" r="r" b="b"/>
            <a:pathLst>
              <a:path w="19658943" h="776130">
                <a:moveTo>
                  <a:pt x="0" y="0"/>
                </a:moveTo>
                <a:lnTo>
                  <a:pt x="19658943" y="0"/>
                </a:lnTo>
                <a:lnTo>
                  <a:pt x="19658943" y="776130"/>
                </a:lnTo>
                <a:lnTo>
                  <a:pt x="0" y="77613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>
            <a:off x="16324744" y="8323744"/>
            <a:ext cx="3926512" cy="3926512"/>
          </a:xfrm>
          <a:custGeom>
            <a:avLst/>
            <a:gdLst/>
            <a:ahLst/>
            <a:cxnLst/>
            <a:rect l="l" t="t" r="r" b="b"/>
            <a:pathLst>
              <a:path w="3926512" h="3926512">
                <a:moveTo>
                  <a:pt x="0" y="0"/>
                </a:moveTo>
                <a:lnTo>
                  <a:pt x="3926512" y="0"/>
                </a:lnTo>
                <a:lnTo>
                  <a:pt x="3926512" y="3926512"/>
                </a:lnTo>
                <a:lnTo>
                  <a:pt x="0" y="392651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10" name="TextBox 10"/>
          <p:cNvSpPr txBox="1"/>
          <p:nvPr/>
        </p:nvSpPr>
        <p:spPr>
          <a:xfrm>
            <a:off x="990600" y="1381028"/>
            <a:ext cx="9760645" cy="9259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570"/>
              </a:lnSpc>
            </a:pPr>
            <a:r>
              <a:rPr lang="en-US" sz="6760">
                <a:solidFill>
                  <a:srgbClr val="000000"/>
                </a:solidFill>
                <a:latin typeface="Oswald" panose="00000500000000000000"/>
                <a:ea typeface="Oswald" panose="00000500000000000000"/>
                <a:cs typeface="Oswald" panose="00000500000000000000"/>
                <a:sym typeface="Oswald" panose="00000500000000000000"/>
              </a:rPr>
              <a:t>Advanced Database Features</a:t>
            </a:r>
            <a:endParaRPr lang="en-US" sz="6760">
              <a:solidFill>
                <a:srgbClr val="000000"/>
              </a:solidFill>
              <a:latin typeface="Oswald" panose="00000500000000000000"/>
              <a:ea typeface="Oswald" panose="00000500000000000000"/>
              <a:cs typeface="Oswald" panose="00000500000000000000"/>
              <a:sym typeface="Oswald" panose="00000500000000000000"/>
            </a:endParaRPr>
          </a:p>
        </p:txBody>
      </p:sp>
      <p:sp>
        <p:nvSpPr>
          <p:cNvPr id="11" name="TextBox 11"/>
          <p:cNvSpPr txBox="1"/>
          <p:nvPr/>
        </p:nvSpPr>
        <p:spPr>
          <a:xfrm>
            <a:off x="748461" y="2576830"/>
            <a:ext cx="10267269" cy="44316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56590" lvl="2" indent="-219075" algn="l">
              <a:lnSpc>
                <a:spcPts val="4320"/>
              </a:lnSpc>
              <a:buFont typeface="Arial" panose="020B0604020202020204"/>
              <a:buChar char="⚬"/>
            </a:pPr>
            <a:r>
              <a:rPr lang="en-US" sz="2400" b="1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View  </a:t>
            </a:r>
            <a:r>
              <a:rPr lang="en-US" sz="240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- Example: product_stock_view (combines product + supplier info)</a:t>
            </a:r>
            <a:endParaRPr lang="en-US" sz="2400">
              <a:solidFill>
                <a:srgbClr val="000000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656590" lvl="2" indent="-219075" algn="l">
              <a:lnSpc>
                <a:spcPts val="4320"/>
              </a:lnSpc>
              <a:buFont typeface="Arial" panose="020B0604020202020204"/>
              <a:buChar char="⚬"/>
            </a:pPr>
            <a:r>
              <a:rPr lang="en-US" sz="2400" b="1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Triggers </a:t>
            </a:r>
            <a:r>
              <a:rPr lang="en-US" sz="240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- Auto update stock levels when inbound / outbound happens.</a:t>
            </a:r>
            <a:endParaRPr lang="en-US" sz="2400">
              <a:solidFill>
                <a:srgbClr val="000000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656590" lvl="2" indent="-219075" algn="l">
              <a:lnSpc>
                <a:spcPts val="4320"/>
              </a:lnSpc>
              <a:buFont typeface="Arial" panose="020B0604020202020204"/>
              <a:buChar char="⚬"/>
            </a:pPr>
            <a:r>
              <a:rPr lang="en-US" sz="2400" b="1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Procedures </a:t>
            </a:r>
            <a:r>
              <a:rPr lang="en-US" sz="240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- Place_order, receive_shipment for business automation.</a:t>
            </a:r>
            <a:endParaRPr lang="en-US" sz="2400">
              <a:solidFill>
                <a:srgbClr val="000000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656590" lvl="2" indent="-219075" algn="l">
              <a:lnSpc>
                <a:spcPts val="4320"/>
              </a:lnSpc>
              <a:buFont typeface="Arial" panose="020B0604020202020204"/>
              <a:buChar char="⚬"/>
            </a:pPr>
            <a:r>
              <a:rPr lang="en-US" sz="2400" b="1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Constraints &amp; Keys</a:t>
            </a:r>
            <a:r>
              <a:rPr lang="en-US" sz="240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 - Ensure data integrity.</a:t>
            </a:r>
            <a:endParaRPr lang="en-US" sz="2400">
              <a:solidFill>
                <a:srgbClr val="000000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656590" lvl="2" indent="-219075" algn="l">
              <a:lnSpc>
                <a:spcPts val="4320"/>
              </a:lnSpc>
            </a:p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1370943" y="9510870"/>
            <a:ext cx="19658943" cy="776130"/>
          </a:xfrm>
          <a:custGeom>
            <a:avLst/>
            <a:gdLst/>
            <a:ahLst/>
            <a:cxnLst/>
            <a:rect l="l" t="t" r="r" b="b"/>
            <a:pathLst>
              <a:path w="19658943" h="776130">
                <a:moveTo>
                  <a:pt x="0" y="0"/>
                </a:moveTo>
                <a:lnTo>
                  <a:pt x="19658943" y="0"/>
                </a:lnTo>
                <a:lnTo>
                  <a:pt x="19658943" y="776130"/>
                </a:lnTo>
                <a:lnTo>
                  <a:pt x="0" y="776130"/>
                </a:lnTo>
                <a:lnTo>
                  <a:pt x="0" y="0"/>
                </a:lnTo>
                <a:close/>
              </a:path>
            </a:pathLst>
          </a:custGeom>
          <a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6324744" y="8323744"/>
            <a:ext cx="3926512" cy="3926512"/>
          </a:xfrm>
          <a:custGeom>
            <a:avLst/>
            <a:gdLst/>
            <a:ahLst/>
            <a:cxnLst/>
            <a:rect l="l" t="t" r="r" b="b"/>
            <a:pathLst>
              <a:path w="3926512" h="3926512">
                <a:moveTo>
                  <a:pt x="0" y="0"/>
                </a:moveTo>
                <a:lnTo>
                  <a:pt x="3926512" y="0"/>
                </a:lnTo>
                <a:lnTo>
                  <a:pt x="3926512" y="3926512"/>
                </a:lnTo>
                <a:lnTo>
                  <a:pt x="0" y="392651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609811" y="2638560"/>
            <a:ext cx="9749496" cy="39702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320"/>
              </a:lnSpc>
            </a:pPr>
          </a:p>
          <a:p>
            <a:pPr marL="598805" lvl="2" indent="-199390" algn="l">
              <a:lnSpc>
                <a:spcPts val="4320"/>
              </a:lnSpc>
              <a:buFont typeface="Arial" panose="020B0604020202020204"/>
              <a:buChar char="⚬"/>
            </a:pPr>
            <a:r>
              <a:rPr lang="en-US" sz="240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JOIN example (LEFT OUTER, NATRUAL)</a:t>
            </a:r>
            <a:endParaRPr lang="en-US" sz="2400">
              <a:solidFill>
                <a:srgbClr val="000000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598805" lvl="2" indent="-199390" algn="l">
              <a:lnSpc>
                <a:spcPts val="4320"/>
              </a:lnSpc>
              <a:buFont typeface="Arial" panose="020B0604020202020204"/>
              <a:buChar char="⚬"/>
            </a:pPr>
            <a:r>
              <a:rPr lang="en-US" sz="240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Procedure execution (Exec place_order (3,5,2))</a:t>
            </a:r>
            <a:endParaRPr lang="en-US" sz="2400">
              <a:solidFill>
                <a:srgbClr val="000000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598805" lvl="2" indent="-199390" algn="l">
              <a:lnSpc>
                <a:spcPts val="4320"/>
              </a:lnSpc>
              <a:buFont typeface="Arial" panose="020B0604020202020204"/>
              <a:buChar char="⚬"/>
            </a:pPr>
            <a:r>
              <a:rPr lang="en-US" sz="240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Trigger exection &amp; auto stock updates.</a:t>
            </a:r>
            <a:endParaRPr lang="en-US" sz="2400">
              <a:solidFill>
                <a:srgbClr val="000000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598805" lvl="2" indent="-199390" algn="l">
              <a:lnSpc>
                <a:spcPts val="4320"/>
              </a:lnSpc>
              <a:buFont typeface="Arial" panose="020B0604020202020204"/>
              <a:buChar char="⚬"/>
            </a:pPr>
            <a:r>
              <a:rPr lang="en-US" sz="240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SQLcl - “We even enabled JSON outputs to prove adaptability whith modern apps.”</a:t>
            </a:r>
            <a:endParaRPr lang="en-US" sz="2400">
              <a:solidFill>
                <a:srgbClr val="000000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598805" lvl="2" indent="-199390" algn="l">
              <a:lnSpc>
                <a:spcPts val="4320"/>
              </a:lnSpc>
              <a:buFont typeface="Arial" panose="020B0604020202020204"/>
              <a:buChar char="⚬"/>
            </a:pPr>
            <a:r>
              <a:rPr lang="en-US" sz="240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“This is how real systems operate under the hood.”</a:t>
            </a:r>
            <a:endParaRPr lang="en-US" sz="2400">
              <a:solidFill>
                <a:srgbClr val="000000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grpSp>
        <p:nvGrpSpPr>
          <p:cNvPr id="5" name="Group 5"/>
          <p:cNvGrpSpPr>
            <a:grpSpLocks noChangeAspect="1"/>
          </p:cNvGrpSpPr>
          <p:nvPr/>
        </p:nvGrpSpPr>
        <p:grpSpPr>
          <a:xfrm rot="0">
            <a:off x="9601620" y="1207793"/>
            <a:ext cx="7041209" cy="3147284"/>
            <a:chOff x="0" y="0"/>
            <a:chExt cx="11419007" cy="5104075"/>
          </a:xfrm>
        </p:grpSpPr>
        <p:sp>
          <p:nvSpPr>
            <p:cNvPr id="6" name="Freeform 6" descr="A screen shot of a computer code&#10;&#10;AI-generated content may be incorrect."/>
            <p:cNvSpPr/>
            <p:nvPr/>
          </p:nvSpPr>
          <p:spPr>
            <a:xfrm>
              <a:off x="0" y="0"/>
              <a:ext cx="11418951" cy="5104130"/>
            </a:xfrm>
            <a:custGeom>
              <a:avLst/>
              <a:gdLst/>
              <a:ahLst/>
              <a:cxnLst/>
              <a:rect l="l" t="t" r="r" b="b"/>
              <a:pathLst>
                <a:path w="11418951" h="5104130">
                  <a:moveTo>
                    <a:pt x="0" y="0"/>
                  </a:moveTo>
                  <a:lnTo>
                    <a:pt x="11418951" y="0"/>
                  </a:lnTo>
                  <a:lnTo>
                    <a:pt x="11418951" y="5104130"/>
                  </a:lnTo>
                  <a:lnTo>
                    <a:pt x="0" y="510413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709" r="-710" b="1"/>
              </a:stretch>
            </a:blipFill>
          </p:spPr>
        </p:sp>
      </p:grpSp>
      <p:grpSp>
        <p:nvGrpSpPr>
          <p:cNvPr id="7" name="Group 7"/>
          <p:cNvGrpSpPr>
            <a:grpSpLocks noChangeAspect="1"/>
          </p:cNvGrpSpPr>
          <p:nvPr/>
        </p:nvGrpSpPr>
        <p:grpSpPr>
          <a:xfrm rot="0">
            <a:off x="9573045" y="5689117"/>
            <a:ext cx="7328618" cy="3268057"/>
            <a:chOff x="0" y="0"/>
            <a:chExt cx="11391900" cy="5080000"/>
          </a:xfrm>
        </p:grpSpPr>
        <p:sp>
          <p:nvSpPr>
            <p:cNvPr id="8" name="Freeform 8" descr="A screen shot of a computer&#10;&#10;AI-generated content may be incorrect."/>
            <p:cNvSpPr/>
            <p:nvPr/>
          </p:nvSpPr>
          <p:spPr>
            <a:xfrm>
              <a:off x="0" y="0"/>
              <a:ext cx="11391900" cy="5080000"/>
            </a:xfrm>
            <a:custGeom>
              <a:avLst/>
              <a:gdLst/>
              <a:ahLst/>
              <a:cxnLst/>
              <a:rect l="l" t="t" r="r" b="b"/>
              <a:pathLst>
                <a:path w="11391900" h="5080000">
                  <a:moveTo>
                    <a:pt x="0" y="0"/>
                  </a:moveTo>
                  <a:lnTo>
                    <a:pt x="11391900" y="0"/>
                  </a:lnTo>
                  <a:lnTo>
                    <a:pt x="11391900" y="5080000"/>
                  </a:lnTo>
                  <a:lnTo>
                    <a:pt x="0" y="5080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/>
              </a:stretch>
            </a:blipFill>
          </p:spPr>
        </p:sp>
      </p:grpSp>
      <p:sp>
        <p:nvSpPr>
          <p:cNvPr id="9" name="TextBox 9"/>
          <p:cNvSpPr txBox="1"/>
          <p:nvPr/>
        </p:nvSpPr>
        <p:spPr>
          <a:xfrm>
            <a:off x="1066800" y="1152525"/>
            <a:ext cx="7284085" cy="9226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570"/>
              </a:lnSpc>
            </a:pPr>
            <a:r>
              <a:rPr lang="en-US" sz="6760">
                <a:solidFill>
                  <a:srgbClr val="000000"/>
                </a:solidFill>
                <a:latin typeface="Oswald" panose="00000500000000000000"/>
                <a:ea typeface="Oswald" panose="00000500000000000000"/>
                <a:cs typeface="Oswald" panose="00000500000000000000"/>
                <a:sym typeface="Oswald" panose="00000500000000000000"/>
              </a:rPr>
              <a:t>Oueries Demonstration</a:t>
            </a:r>
            <a:endParaRPr lang="en-US" sz="6760">
              <a:solidFill>
                <a:srgbClr val="000000"/>
              </a:solidFill>
              <a:latin typeface="Oswald" panose="00000500000000000000"/>
              <a:ea typeface="Oswald" panose="00000500000000000000"/>
              <a:cs typeface="Oswald" panose="00000500000000000000"/>
              <a:sym typeface="Oswald" panose="00000500000000000000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179569" y="6745998"/>
            <a:ext cx="19044147" cy="3916268"/>
          </a:xfrm>
          <a:custGeom>
            <a:avLst/>
            <a:gdLst/>
            <a:ahLst/>
            <a:cxnLst/>
            <a:rect l="l" t="t" r="r" b="b"/>
            <a:pathLst>
              <a:path w="19044147" h="3916268">
                <a:moveTo>
                  <a:pt x="0" y="0"/>
                </a:moveTo>
                <a:lnTo>
                  <a:pt x="19044147" y="0"/>
                </a:lnTo>
                <a:lnTo>
                  <a:pt x="19044147" y="3916268"/>
                </a:lnTo>
                <a:lnTo>
                  <a:pt x="0" y="3916268"/>
                </a:lnTo>
                <a:lnTo>
                  <a:pt x="0" y="0"/>
                </a:lnTo>
                <a:close/>
              </a:path>
            </a:pathLst>
          </a:custGeom>
          <a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-1370943" y="9624928"/>
            <a:ext cx="19658943" cy="776130"/>
          </a:xfrm>
          <a:custGeom>
            <a:avLst/>
            <a:gdLst/>
            <a:ahLst/>
            <a:cxnLst/>
            <a:rect l="l" t="t" r="r" b="b"/>
            <a:pathLst>
              <a:path w="19658943" h="776130">
                <a:moveTo>
                  <a:pt x="0" y="0"/>
                </a:moveTo>
                <a:lnTo>
                  <a:pt x="19658943" y="0"/>
                </a:lnTo>
                <a:lnTo>
                  <a:pt x="19658943" y="776130"/>
                </a:lnTo>
                <a:lnTo>
                  <a:pt x="0" y="77613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16324744" y="8323744"/>
            <a:ext cx="3926512" cy="3926512"/>
          </a:xfrm>
          <a:custGeom>
            <a:avLst/>
            <a:gdLst/>
            <a:ahLst/>
            <a:cxnLst/>
            <a:rect l="l" t="t" r="r" b="b"/>
            <a:pathLst>
              <a:path w="3926512" h="3926512">
                <a:moveTo>
                  <a:pt x="0" y="0"/>
                </a:moveTo>
                <a:lnTo>
                  <a:pt x="3926512" y="0"/>
                </a:lnTo>
                <a:lnTo>
                  <a:pt x="3926512" y="3926512"/>
                </a:lnTo>
                <a:lnTo>
                  <a:pt x="0" y="3926512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5" name="TextBox 5"/>
          <p:cNvSpPr txBox="1"/>
          <p:nvPr/>
        </p:nvSpPr>
        <p:spPr>
          <a:xfrm>
            <a:off x="831339" y="954783"/>
            <a:ext cx="6532055" cy="9259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570"/>
              </a:lnSpc>
            </a:pPr>
            <a:r>
              <a:rPr lang="en-US" sz="6760">
                <a:solidFill>
                  <a:srgbClr val="000000"/>
                </a:solidFill>
                <a:latin typeface="Oswald" panose="00000500000000000000"/>
                <a:ea typeface="Oswald" panose="00000500000000000000"/>
                <a:cs typeface="Oswald" panose="00000500000000000000"/>
                <a:sym typeface="Oswald" panose="00000500000000000000"/>
              </a:rPr>
              <a:t>Frontend Showcase</a:t>
            </a:r>
            <a:endParaRPr lang="en-US" sz="6760">
              <a:solidFill>
                <a:srgbClr val="000000"/>
              </a:solidFill>
              <a:latin typeface="Oswald" panose="00000500000000000000"/>
              <a:ea typeface="Oswald" panose="00000500000000000000"/>
              <a:cs typeface="Oswald" panose="00000500000000000000"/>
              <a:sym typeface="Oswald" panose="00000500000000000000"/>
            </a:endParaRPr>
          </a:p>
        </p:txBody>
      </p:sp>
      <p:sp>
        <p:nvSpPr>
          <p:cNvPr id="6" name="TextBox 6"/>
          <p:cNvSpPr txBox="1"/>
          <p:nvPr/>
        </p:nvSpPr>
        <p:spPr>
          <a:xfrm>
            <a:off x="914524" y="2194928"/>
            <a:ext cx="2291507" cy="126847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760"/>
              </a:lnSpc>
            </a:pPr>
            <a:r>
              <a:rPr lang="en-US" sz="340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Home</a:t>
            </a:r>
            <a:endParaRPr lang="en-US" sz="3400">
              <a:solidFill>
                <a:srgbClr val="000000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algn="l">
              <a:lnSpc>
                <a:spcPts val="4760"/>
              </a:lnSpc>
            </a:pPr>
          </a:p>
        </p:txBody>
      </p:sp>
      <p:grpSp>
        <p:nvGrpSpPr>
          <p:cNvPr id="7" name="Group 7"/>
          <p:cNvGrpSpPr>
            <a:grpSpLocks noChangeAspect="1"/>
          </p:cNvGrpSpPr>
          <p:nvPr/>
        </p:nvGrpSpPr>
        <p:grpSpPr>
          <a:xfrm rot="0">
            <a:off x="4030357" y="2277936"/>
            <a:ext cx="9798575" cy="4530393"/>
            <a:chOff x="0" y="0"/>
            <a:chExt cx="12632521" cy="5840675"/>
          </a:xfrm>
        </p:grpSpPr>
        <p:sp>
          <p:nvSpPr>
            <p:cNvPr id="8" name="Freeform 8" descr="A screenshot of a computer&#10;&#10;AI-generated content may be incorrect."/>
            <p:cNvSpPr/>
            <p:nvPr/>
          </p:nvSpPr>
          <p:spPr>
            <a:xfrm>
              <a:off x="0" y="0"/>
              <a:ext cx="12632563" cy="5840730"/>
            </a:xfrm>
            <a:custGeom>
              <a:avLst/>
              <a:gdLst/>
              <a:ahLst/>
              <a:cxnLst/>
              <a:rect l="l" t="t" r="r" b="b"/>
              <a:pathLst>
                <a:path w="12632563" h="5840730">
                  <a:moveTo>
                    <a:pt x="0" y="0"/>
                  </a:moveTo>
                  <a:lnTo>
                    <a:pt x="12632563" y="0"/>
                  </a:lnTo>
                  <a:lnTo>
                    <a:pt x="12632563" y="5840730"/>
                  </a:lnTo>
                  <a:lnTo>
                    <a:pt x="0" y="584073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t="-241" b="-240"/>
              </a:stretch>
            </a:blipFill>
          </p:spPr>
        </p:sp>
      </p:grpSp>
      <p:grpSp>
        <p:nvGrpSpPr>
          <p:cNvPr id="9" name="Group 9"/>
          <p:cNvGrpSpPr>
            <a:grpSpLocks noChangeAspect="1"/>
          </p:cNvGrpSpPr>
          <p:nvPr/>
        </p:nvGrpSpPr>
        <p:grpSpPr>
          <a:xfrm rot="0">
            <a:off x="8757677" y="7058492"/>
            <a:ext cx="5061731" cy="2548205"/>
            <a:chOff x="0" y="0"/>
            <a:chExt cx="12975420" cy="6532160"/>
          </a:xfrm>
        </p:grpSpPr>
        <p:sp>
          <p:nvSpPr>
            <p:cNvPr id="10" name="Freeform 10" descr="A screenshot of a computer&#10;&#10;AI-generated content may be incorrect."/>
            <p:cNvSpPr/>
            <p:nvPr/>
          </p:nvSpPr>
          <p:spPr>
            <a:xfrm>
              <a:off x="0" y="0"/>
              <a:ext cx="12975463" cy="6532118"/>
            </a:xfrm>
            <a:custGeom>
              <a:avLst/>
              <a:gdLst/>
              <a:ahLst/>
              <a:cxnLst/>
              <a:rect l="l" t="t" r="r" b="b"/>
              <a:pathLst>
                <a:path w="12975463" h="6532118">
                  <a:moveTo>
                    <a:pt x="0" y="0"/>
                  </a:moveTo>
                  <a:lnTo>
                    <a:pt x="12975463" y="0"/>
                  </a:lnTo>
                  <a:lnTo>
                    <a:pt x="12975463" y="6532118"/>
                  </a:lnTo>
                  <a:lnTo>
                    <a:pt x="0" y="653211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-117" r="-117"/>
              </a:stretch>
            </a:blipFill>
          </p:spPr>
        </p:sp>
      </p:grpSp>
      <p:grpSp>
        <p:nvGrpSpPr>
          <p:cNvPr id="11" name="Group 11"/>
          <p:cNvGrpSpPr>
            <a:grpSpLocks noChangeAspect="1"/>
          </p:cNvGrpSpPr>
          <p:nvPr/>
        </p:nvGrpSpPr>
        <p:grpSpPr>
          <a:xfrm rot="0">
            <a:off x="3922423" y="7058492"/>
            <a:ext cx="4854303" cy="2491929"/>
            <a:chOff x="0" y="0"/>
            <a:chExt cx="11441944" cy="5873656"/>
          </a:xfrm>
        </p:grpSpPr>
        <p:sp>
          <p:nvSpPr>
            <p:cNvPr id="12" name="Freeform 12" descr="A screenshot of a contact form&#10;&#10;AI-generated content may be incorrect."/>
            <p:cNvSpPr/>
            <p:nvPr/>
          </p:nvSpPr>
          <p:spPr>
            <a:xfrm>
              <a:off x="0" y="0"/>
              <a:ext cx="11441938" cy="5873623"/>
            </a:xfrm>
            <a:custGeom>
              <a:avLst/>
              <a:gdLst/>
              <a:ahLst/>
              <a:cxnLst/>
              <a:rect l="l" t="t" r="r" b="b"/>
              <a:pathLst>
                <a:path w="11441938" h="5873623">
                  <a:moveTo>
                    <a:pt x="0" y="0"/>
                  </a:moveTo>
                  <a:lnTo>
                    <a:pt x="11441938" y="0"/>
                  </a:lnTo>
                  <a:lnTo>
                    <a:pt x="11441938" y="5873623"/>
                  </a:lnTo>
                  <a:lnTo>
                    <a:pt x="0" y="587362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 l="-276" r="-277"/>
              </a:stretch>
            </a:blipFill>
          </p:spPr>
        </p:sp>
      </p:grp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265294" y="6745998"/>
            <a:ext cx="19044147" cy="3916268"/>
          </a:xfrm>
          <a:custGeom>
            <a:avLst/>
            <a:gdLst/>
            <a:ahLst/>
            <a:cxnLst/>
            <a:rect l="l" t="t" r="r" b="b"/>
            <a:pathLst>
              <a:path w="19044147" h="3916268">
                <a:moveTo>
                  <a:pt x="0" y="0"/>
                </a:moveTo>
                <a:lnTo>
                  <a:pt x="19044147" y="0"/>
                </a:lnTo>
                <a:lnTo>
                  <a:pt x="19044147" y="3916268"/>
                </a:lnTo>
                <a:lnTo>
                  <a:pt x="0" y="3916268"/>
                </a:lnTo>
                <a:lnTo>
                  <a:pt x="0" y="0"/>
                </a:lnTo>
                <a:close/>
              </a:path>
            </a:pathLst>
          </a:custGeom>
          <a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-1370943" y="9624928"/>
            <a:ext cx="19658943" cy="776130"/>
          </a:xfrm>
          <a:custGeom>
            <a:avLst/>
            <a:gdLst/>
            <a:ahLst/>
            <a:cxnLst/>
            <a:rect l="l" t="t" r="r" b="b"/>
            <a:pathLst>
              <a:path w="19658943" h="776130">
                <a:moveTo>
                  <a:pt x="0" y="0"/>
                </a:moveTo>
                <a:lnTo>
                  <a:pt x="19658943" y="0"/>
                </a:lnTo>
                <a:lnTo>
                  <a:pt x="19658943" y="776130"/>
                </a:lnTo>
                <a:lnTo>
                  <a:pt x="0" y="77613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16324744" y="8323744"/>
            <a:ext cx="3926512" cy="3926512"/>
          </a:xfrm>
          <a:custGeom>
            <a:avLst/>
            <a:gdLst/>
            <a:ahLst/>
            <a:cxnLst/>
            <a:rect l="l" t="t" r="r" b="b"/>
            <a:pathLst>
              <a:path w="3926512" h="3926512">
                <a:moveTo>
                  <a:pt x="0" y="0"/>
                </a:moveTo>
                <a:lnTo>
                  <a:pt x="3926512" y="0"/>
                </a:lnTo>
                <a:lnTo>
                  <a:pt x="3926512" y="3926512"/>
                </a:lnTo>
                <a:lnTo>
                  <a:pt x="0" y="3926512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5" name="TextBox 5"/>
          <p:cNvSpPr txBox="1"/>
          <p:nvPr/>
        </p:nvSpPr>
        <p:spPr>
          <a:xfrm>
            <a:off x="831339" y="954783"/>
            <a:ext cx="6276401" cy="9259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570"/>
              </a:lnSpc>
            </a:pPr>
            <a:r>
              <a:rPr lang="en-US" sz="6760">
                <a:solidFill>
                  <a:srgbClr val="000000"/>
                </a:solidFill>
                <a:latin typeface="Oswald" panose="00000500000000000000"/>
                <a:ea typeface="Oswald" panose="00000500000000000000"/>
                <a:cs typeface="Oswald" panose="00000500000000000000"/>
                <a:sym typeface="Oswald" panose="00000500000000000000"/>
              </a:rPr>
              <a:t>Frontend Showcase</a:t>
            </a:r>
            <a:endParaRPr lang="en-US" sz="6760">
              <a:solidFill>
                <a:srgbClr val="000000"/>
              </a:solidFill>
              <a:latin typeface="Oswald" panose="00000500000000000000"/>
              <a:ea typeface="Oswald" panose="00000500000000000000"/>
              <a:cs typeface="Oswald" panose="00000500000000000000"/>
              <a:sym typeface="Oswald" panose="00000500000000000000"/>
            </a:endParaRPr>
          </a:p>
        </p:txBody>
      </p:sp>
      <p:sp>
        <p:nvSpPr>
          <p:cNvPr id="6" name="TextBox 6"/>
          <p:cNvSpPr txBox="1"/>
          <p:nvPr/>
        </p:nvSpPr>
        <p:spPr>
          <a:xfrm>
            <a:off x="831215" y="1986280"/>
            <a:ext cx="3150235" cy="6769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760"/>
              </a:lnSpc>
            </a:pPr>
            <a:r>
              <a:rPr lang="en-US" sz="340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Product list</a:t>
            </a:r>
            <a:endParaRPr lang="en-US" sz="3400">
              <a:solidFill>
                <a:srgbClr val="000000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grpSp>
        <p:nvGrpSpPr>
          <p:cNvPr id="7" name="Group 7"/>
          <p:cNvGrpSpPr>
            <a:grpSpLocks noChangeAspect="1"/>
          </p:cNvGrpSpPr>
          <p:nvPr/>
        </p:nvGrpSpPr>
        <p:grpSpPr>
          <a:xfrm rot="0">
            <a:off x="3665195" y="3534054"/>
            <a:ext cx="10957611" cy="4437518"/>
            <a:chOff x="0" y="0"/>
            <a:chExt cx="21306241" cy="8628417"/>
          </a:xfrm>
        </p:grpSpPr>
        <p:sp>
          <p:nvSpPr>
            <p:cNvPr id="8" name="Freeform 8" descr="A screenshot of a price list&#10;&#10;AI-generated content may be incorrect."/>
            <p:cNvSpPr/>
            <p:nvPr/>
          </p:nvSpPr>
          <p:spPr>
            <a:xfrm>
              <a:off x="0" y="0"/>
              <a:ext cx="21306282" cy="8628380"/>
            </a:xfrm>
            <a:custGeom>
              <a:avLst/>
              <a:gdLst/>
              <a:ahLst/>
              <a:cxnLst/>
              <a:rect l="l" t="t" r="r" b="b"/>
              <a:pathLst>
                <a:path w="21306282" h="8628380">
                  <a:moveTo>
                    <a:pt x="0" y="0"/>
                  </a:moveTo>
                  <a:lnTo>
                    <a:pt x="21306282" y="0"/>
                  </a:lnTo>
                  <a:lnTo>
                    <a:pt x="21306282" y="8628380"/>
                  </a:lnTo>
                  <a:lnTo>
                    <a:pt x="0" y="862838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-328" r="-328"/>
              </a:stretch>
            </a:blipFill>
          </p:spPr>
        </p:sp>
      </p:grp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265294" y="6745998"/>
            <a:ext cx="19044147" cy="3916268"/>
          </a:xfrm>
          <a:custGeom>
            <a:avLst/>
            <a:gdLst/>
            <a:ahLst/>
            <a:cxnLst/>
            <a:rect l="l" t="t" r="r" b="b"/>
            <a:pathLst>
              <a:path w="19044147" h="3916268">
                <a:moveTo>
                  <a:pt x="0" y="0"/>
                </a:moveTo>
                <a:lnTo>
                  <a:pt x="19044147" y="0"/>
                </a:lnTo>
                <a:lnTo>
                  <a:pt x="19044147" y="3916268"/>
                </a:lnTo>
                <a:lnTo>
                  <a:pt x="0" y="3916268"/>
                </a:lnTo>
                <a:lnTo>
                  <a:pt x="0" y="0"/>
                </a:lnTo>
                <a:close/>
              </a:path>
            </a:pathLst>
          </a:custGeom>
          <a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-1370943" y="9624928"/>
            <a:ext cx="19658943" cy="776130"/>
          </a:xfrm>
          <a:custGeom>
            <a:avLst/>
            <a:gdLst/>
            <a:ahLst/>
            <a:cxnLst/>
            <a:rect l="l" t="t" r="r" b="b"/>
            <a:pathLst>
              <a:path w="19658943" h="776130">
                <a:moveTo>
                  <a:pt x="0" y="0"/>
                </a:moveTo>
                <a:lnTo>
                  <a:pt x="19658943" y="0"/>
                </a:lnTo>
                <a:lnTo>
                  <a:pt x="19658943" y="776130"/>
                </a:lnTo>
                <a:lnTo>
                  <a:pt x="0" y="77613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16324744" y="8323744"/>
            <a:ext cx="3926512" cy="3926512"/>
          </a:xfrm>
          <a:custGeom>
            <a:avLst/>
            <a:gdLst/>
            <a:ahLst/>
            <a:cxnLst/>
            <a:rect l="l" t="t" r="r" b="b"/>
            <a:pathLst>
              <a:path w="3926512" h="3926512">
                <a:moveTo>
                  <a:pt x="0" y="0"/>
                </a:moveTo>
                <a:lnTo>
                  <a:pt x="3926512" y="0"/>
                </a:lnTo>
                <a:lnTo>
                  <a:pt x="3926512" y="3926512"/>
                </a:lnTo>
                <a:lnTo>
                  <a:pt x="0" y="3926512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5" name="TextBox 5"/>
          <p:cNvSpPr txBox="1"/>
          <p:nvPr/>
        </p:nvSpPr>
        <p:spPr>
          <a:xfrm>
            <a:off x="831339" y="954783"/>
            <a:ext cx="6253159" cy="9259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570"/>
              </a:lnSpc>
            </a:pPr>
            <a:r>
              <a:rPr lang="en-US" sz="6760">
                <a:solidFill>
                  <a:srgbClr val="000000"/>
                </a:solidFill>
                <a:latin typeface="Oswald" panose="00000500000000000000"/>
                <a:ea typeface="Oswald" panose="00000500000000000000"/>
                <a:cs typeface="Oswald" panose="00000500000000000000"/>
                <a:sym typeface="Oswald" panose="00000500000000000000"/>
              </a:rPr>
              <a:t>Frontend Showcase</a:t>
            </a:r>
            <a:endParaRPr lang="en-US" sz="6760">
              <a:solidFill>
                <a:srgbClr val="000000"/>
              </a:solidFill>
              <a:latin typeface="Oswald" panose="00000500000000000000"/>
              <a:ea typeface="Oswald" panose="00000500000000000000"/>
              <a:cs typeface="Oswald" panose="00000500000000000000"/>
              <a:sym typeface="Oswald" panose="00000500000000000000"/>
            </a:endParaRPr>
          </a:p>
        </p:txBody>
      </p:sp>
      <p:sp>
        <p:nvSpPr>
          <p:cNvPr id="6" name="TextBox 6"/>
          <p:cNvSpPr txBox="1"/>
          <p:nvPr/>
        </p:nvSpPr>
        <p:spPr>
          <a:xfrm>
            <a:off x="831215" y="2090847"/>
            <a:ext cx="6454926" cy="6529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760"/>
              </a:lnSpc>
            </a:pPr>
            <a:r>
              <a:rPr lang="en-US" sz="340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Inventory Management</a:t>
            </a:r>
            <a:endParaRPr lang="en-US" sz="3400">
              <a:solidFill>
                <a:srgbClr val="000000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grpSp>
        <p:nvGrpSpPr>
          <p:cNvPr id="7" name="Group 7"/>
          <p:cNvGrpSpPr>
            <a:grpSpLocks noChangeAspect="1"/>
          </p:cNvGrpSpPr>
          <p:nvPr/>
        </p:nvGrpSpPr>
        <p:grpSpPr>
          <a:xfrm rot="0">
            <a:off x="2953916" y="3076700"/>
            <a:ext cx="11892946" cy="5627432"/>
            <a:chOff x="0" y="0"/>
            <a:chExt cx="19646900" cy="9296400"/>
          </a:xfrm>
        </p:grpSpPr>
        <p:sp>
          <p:nvSpPr>
            <p:cNvPr id="8" name="Freeform 8" descr="A screenshot of a computer&#10;&#10;AI-generated content may be incorrect."/>
            <p:cNvSpPr/>
            <p:nvPr/>
          </p:nvSpPr>
          <p:spPr>
            <a:xfrm>
              <a:off x="0" y="0"/>
              <a:ext cx="19646900" cy="9296400"/>
            </a:xfrm>
            <a:custGeom>
              <a:avLst/>
              <a:gdLst/>
              <a:ahLst/>
              <a:cxnLst/>
              <a:rect l="l" t="t" r="r" b="b"/>
              <a:pathLst>
                <a:path w="19646900" h="9296400">
                  <a:moveTo>
                    <a:pt x="0" y="0"/>
                  </a:moveTo>
                  <a:lnTo>
                    <a:pt x="19646900" y="0"/>
                  </a:lnTo>
                  <a:lnTo>
                    <a:pt x="19646900" y="9296400"/>
                  </a:lnTo>
                  <a:lnTo>
                    <a:pt x="0" y="9296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/>
              </a:stretch>
            </a:blipFill>
          </p:spPr>
        </p:sp>
      </p:grp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265294" y="6745998"/>
            <a:ext cx="19044147" cy="3916268"/>
          </a:xfrm>
          <a:custGeom>
            <a:avLst/>
            <a:gdLst/>
            <a:ahLst/>
            <a:cxnLst/>
            <a:rect l="l" t="t" r="r" b="b"/>
            <a:pathLst>
              <a:path w="19044147" h="3916268">
                <a:moveTo>
                  <a:pt x="0" y="0"/>
                </a:moveTo>
                <a:lnTo>
                  <a:pt x="19044147" y="0"/>
                </a:lnTo>
                <a:lnTo>
                  <a:pt x="19044147" y="3916268"/>
                </a:lnTo>
                <a:lnTo>
                  <a:pt x="0" y="3916268"/>
                </a:lnTo>
                <a:lnTo>
                  <a:pt x="0" y="0"/>
                </a:lnTo>
                <a:close/>
              </a:path>
            </a:pathLst>
          </a:custGeom>
          <a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-1370943" y="9624928"/>
            <a:ext cx="19658943" cy="776130"/>
          </a:xfrm>
          <a:custGeom>
            <a:avLst/>
            <a:gdLst/>
            <a:ahLst/>
            <a:cxnLst/>
            <a:rect l="l" t="t" r="r" b="b"/>
            <a:pathLst>
              <a:path w="19658943" h="776130">
                <a:moveTo>
                  <a:pt x="0" y="0"/>
                </a:moveTo>
                <a:lnTo>
                  <a:pt x="19658943" y="0"/>
                </a:lnTo>
                <a:lnTo>
                  <a:pt x="19658943" y="776130"/>
                </a:lnTo>
                <a:lnTo>
                  <a:pt x="0" y="77613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16324744" y="8323744"/>
            <a:ext cx="3926512" cy="3926512"/>
          </a:xfrm>
          <a:custGeom>
            <a:avLst/>
            <a:gdLst/>
            <a:ahLst/>
            <a:cxnLst/>
            <a:rect l="l" t="t" r="r" b="b"/>
            <a:pathLst>
              <a:path w="3926512" h="3926512">
                <a:moveTo>
                  <a:pt x="0" y="0"/>
                </a:moveTo>
                <a:lnTo>
                  <a:pt x="3926512" y="0"/>
                </a:lnTo>
                <a:lnTo>
                  <a:pt x="3926512" y="3926512"/>
                </a:lnTo>
                <a:lnTo>
                  <a:pt x="0" y="3926512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5" name="TextBox 5"/>
          <p:cNvSpPr txBox="1"/>
          <p:nvPr/>
        </p:nvSpPr>
        <p:spPr>
          <a:xfrm>
            <a:off x="831339" y="954783"/>
            <a:ext cx="6106118" cy="9259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570"/>
              </a:lnSpc>
            </a:pPr>
            <a:r>
              <a:rPr lang="en-US" sz="6760">
                <a:solidFill>
                  <a:srgbClr val="000000"/>
                </a:solidFill>
                <a:latin typeface="Oswald" panose="00000500000000000000"/>
                <a:ea typeface="Oswald" panose="00000500000000000000"/>
                <a:cs typeface="Oswald" panose="00000500000000000000"/>
                <a:sym typeface="Oswald" panose="00000500000000000000"/>
              </a:rPr>
              <a:t>Frontend Showcase</a:t>
            </a:r>
            <a:endParaRPr lang="en-US" sz="6760">
              <a:solidFill>
                <a:srgbClr val="000000"/>
              </a:solidFill>
              <a:latin typeface="Oswald" panose="00000500000000000000"/>
              <a:ea typeface="Oswald" panose="00000500000000000000"/>
              <a:cs typeface="Oswald" panose="00000500000000000000"/>
              <a:sym typeface="Oswald" panose="00000500000000000000"/>
            </a:endParaRPr>
          </a:p>
        </p:txBody>
      </p:sp>
      <p:sp>
        <p:nvSpPr>
          <p:cNvPr id="6" name="TextBox 6"/>
          <p:cNvSpPr txBox="1"/>
          <p:nvPr/>
        </p:nvSpPr>
        <p:spPr>
          <a:xfrm>
            <a:off x="831215" y="1986280"/>
            <a:ext cx="3706495" cy="12871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760"/>
              </a:lnSpc>
            </a:pPr>
            <a:r>
              <a:rPr lang="en-US" sz="340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Supplier info</a:t>
            </a:r>
            <a:endParaRPr lang="en-US" sz="3400">
              <a:solidFill>
                <a:srgbClr val="000000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algn="l">
              <a:lnSpc>
                <a:spcPts val="4760"/>
              </a:lnSpc>
            </a:pPr>
          </a:p>
        </p:txBody>
      </p:sp>
      <p:grpSp>
        <p:nvGrpSpPr>
          <p:cNvPr id="7" name="Group 7"/>
          <p:cNvGrpSpPr>
            <a:grpSpLocks noChangeAspect="1"/>
          </p:cNvGrpSpPr>
          <p:nvPr/>
        </p:nvGrpSpPr>
        <p:grpSpPr>
          <a:xfrm rot="0">
            <a:off x="2713038" y="2811782"/>
            <a:ext cx="12464680" cy="5958263"/>
            <a:chOff x="0" y="0"/>
            <a:chExt cx="19715329" cy="9424159"/>
          </a:xfrm>
        </p:grpSpPr>
        <p:sp>
          <p:nvSpPr>
            <p:cNvPr id="8" name="Freeform 8" descr="A screenshot of a phone number&#10;&#10;AI-generated content may be incorrect."/>
            <p:cNvSpPr/>
            <p:nvPr/>
          </p:nvSpPr>
          <p:spPr>
            <a:xfrm>
              <a:off x="0" y="0"/>
              <a:ext cx="19715353" cy="9424162"/>
            </a:xfrm>
            <a:custGeom>
              <a:avLst/>
              <a:gdLst/>
              <a:ahLst/>
              <a:cxnLst/>
              <a:rect l="l" t="t" r="r" b="b"/>
              <a:pathLst>
                <a:path w="19715353" h="9424162">
                  <a:moveTo>
                    <a:pt x="0" y="0"/>
                  </a:moveTo>
                  <a:lnTo>
                    <a:pt x="19715353" y="0"/>
                  </a:lnTo>
                  <a:lnTo>
                    <a:pt x="19715353" y="9424162"/>
                  </a:lnTo>
                  <a:lnTo>
                    <a:pt x="0" y="942416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-1473" r="-1473"/>
              </a:stretch>
            </a:blipFill>
          </p:spPr>
        </p:sp>
      </p:grp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265294" y="6745998"/>
            <a:ext cx="19044147" cy="3916268"/>
          </a:xfrm>
          <a:custGeom>
            <a:avLst/>
            <a:gdLst/>
            <a:ahLst/>
            <a:cxnLst/>
            <a:rect l="l" t="t" r="r" b="b"/>
            <a:pathLst>
              <a:path w="19044147" h="3916268">
                <a:moveTo>
                  <a:pt x="0" y="0"/>
                </a:moveTo>
                <a:lnTo>
                  <a:pt x="19044147" y="0"/>
                </a:lnTo>
                <a:lnTo>
                  <a:pt x="19044147" y="3916268"/>
                </a:lnTo>
                <a:lnTo>
                  <a:pt x="0" y="3916268"/>
                </a:lnTo>
                <a:lnTo>
                  <a:pt x="0" y="0"/>
                </a:lnTo>
                <a:close/>
              </a:path>
            </a:pathLst>
          </a:custGeom>
          <a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-1370943" y="9624928"/>
            <a:ext cx="19658943" cy="776130"/>
          </a:xfrm>
          <a:custGeom>
            <a:avLst/>
            <a:gdLst/>
            <a:ahLst/>
            <a:cxnLst/>
            <a:rect l="l" t="t" r="r" b="b"/>
            <a:pathLst>
              <a:path w="19658943" h="776130">
                <a:moveTo>
                  <a:pt x="0" y="0"/>
                </a:moveTo>
                <a:lnTo>
                  <a:pt x="19658943" y="0"/>
                </a:lnTo>
                <a:lnTo>
                  <a:pt x="19658943" y="776130"/>
                </a:lnTo>
                <a:lnTo>
                  <a:pt x="0" y="77613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16324744" y="8323744"/>
            <a:ext cx="3926512" cy="3926512"/>
          </a:xfrm>
          <a:custGeom>
            <a:avLst/>
            <a:gdLst/>
            <a:ahLst/>
            <a:cxnLst/>
            <a:rect l="l" t="t" r="r" b="b"/>
            <a:pathLst>
              <a:path w="3926512" h="3926512">
                <a:moveTo>
                  <a:pt x="0" y="0"/>
                </a:moveTo>
                <a:lnTo>
                  <a:pt x="3926512" y="0"/>
                </a:lnTo>
                <a:lnTo>
                  <a:pt x="3926512" y="3926512"/>
                </a:lnTo>
                <a:lnTo>
                  <a:pt x="0" y="3926512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5" name="TextBox 5"/>
          <p:cNvSpPr txBox="1"/>
          <p:nvPr/>
        </p:nvSpPr>
        <p:spPr>
          <a:xfrm>
            <a:off x="831339" y="954783"/>
            <a:ext cx="6276401" cy="9259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570"/>
              </a:lnSpc>
            </a:pPr>
            <a:r>
              <a:rPr lang="en-US" sz="6760">
                <a:solidFill>
                  <a:srgbClr val="000000"/>
                </a:solidFill>
                <a:latin typeface="Oswald" panose="00000500000000000000"/>
                <a:ea typeface="Oswald" panose="00000500000000000000"/>
                <a:cs typeface="Oswald" panose="00000500000000000000"/>
                <a:sym typeface="Oswald" panose="00000500000000000000"/>
              </a:rPr>
              <a:t>Frontend Showcase</a:t>
            </a:r>
            <a:endParaRPr lang="en-US" sz="6760">
              <a:solidFill>
                <a:srgbClr val="000000"/>
              </a:solidFill>
              <a:latin typeface="Oswald" panose="00000500000000000000"/>
              <a:ea typeface="Oswald" panose="00000500000000000000"/>
              <a:cs typeface="Oswald" panose="00000500000000000000"/>
              <a:sym typeface="Oswald" panose="00000500000000000000"/>
            </a:endParaRPr>
          </a:p>
        </p:txBody>
      </p:sp>
      <p:sp>
        <p:nvSpPr>
          <p:cNvPr id="6" name="TextBox 6"/>
          <p:cNvSpPr txBox="1"/>
          <p:nvPr/>
        </p:nvSpPr>
        <p:spPr>
          <a:xfrm>
            <a:off x="831215" y="1986280"/>
            <a:ext cx="2400935" cy="12871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760"/>
              </a:lnSpc>
            </a:pPr>
            <a:r>
              <a:rPr lang="en-US" sz="340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Orders</a:t>
            </a:r>
            <a:endParaRPr lang="en-US" sz="3400">
              <a:solidFill>
                <a:srgbClr val="000000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algn="l">
              <a:lnSpc>
                <a:spcPts val="4760"/>
              </a:lnSpc>
            </a:pPr>
          </a:p>
        </p:txBody>
      </p:sp>
      <p:grpSp>
        <p:nvGrpSpPr>
          <p:cNvPr id="7" name="Group 7"/>
          <p:cNvGrpSpPr>
            <a:grpSpLocks noChangeAspect="1"/>
          </p:cNvGrpSpPr>
          <p:nvPr/>
        </p:nvGrpSpPr>
        <p:grpSpPr>
          <a:xfrm rot="0">
            <a:off x="3048463" y="2743762"/>
            <a:ext cx="12191074" cy="6018103"/>
            <a:chOff x="0" y="0"/>
            <a:chExt cx="19293196" cy="9524053"/>
          </a:xfrm>
        </p:grpSpPr>
        <p:sp>
          <p:nvSpPr>
            <p:cNvPr id="8" name="Freeform 8" descr="A screenshot of a computer&#10;&#10;AI-generated content may be incorrect."/>
            <p:cNvSpPr/>
            <p:nvPr/>
          </p:nvSpPr>
          <p:spPr>
            <a:xfrm>
              <a:off x="0" y="0"/>
              <a:ext cx="19293205" cy="9524111"/>
            </a:xfrm>
            <a:custGeom>
              <a:avLst/>
              <a:gdLst/>
              <a:ahLst/>
              <a:cxnLst/>
              <a:rect l="l" t="t" r="r" b="b"/>
              <a:pathLst>
                <a:path w="19293205" h="9524111">
                  <a:moveTo>
                    <a:pt x="0" y="0"/>
                  </a:moveTo>
                  <a:lnTo>
                    <a:pt x="19293205" y="0"/>
                  </a:lnTo>
                  <a:lnTo>
                    <a:pt x="19293205" y="9524111"/>
                  </a:lnTo>
                  <a:lnTo>
                    <a:pt x="0" y="952411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-606" r="-606"/>
              </a:stretch>
            </a:blipFill>
          </p:spPr>
        </p:sp>
      </p:grp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0">
            <a:off x="11015730" y="0"/>
            <a:ext cx="11582836" cy="6681447"/>
            <a:chOff x="0" y="0"/>
            <a:chExt cx="15443781" cy="8908596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5443836" cy="8908542"/>
            </a:xfrm>
            <a:custGeom>
              <a:avLst/>
              <a:gdLst/>
              <a:ahLst/>
              <a:cxnLst/>
              <a:rect l="l" t="t" r="r" b="b"/>
              <a:pathLst>
                <a:path w="15443836" h="8908542">
                  <a:moveTo>
                    <a:pt x="0" y="0"/>
                  </a:moveTo>
                  <a:lnTo>
                    <a:pt x="15443836" y="0"/>
                  </a:lnTo>
                  <a:lnTo>
                    <a:pt x="15443836" y="8908542"/>
                  </a:lnTo>
                  <a:lnTo>
                    <a:pt x="0" y="890854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"/>
              <a:stretch>
                <a:fillRect l="-41579" r="-41579"/>
              </a:stretch>
            </a:blipFill>
          </p:spPr>
        </p:sp>
      </p:grpSp>
      <p:grpSp>
        <p:nvGrpSpPr>
          <p:cNvPr id="4" name="Group 4"/>
          <p:cNvGrpSpPr/>
          <p:nvPr/>
        </p:nvGrpSpPr>
        <p:grpSpPr>
          <a:xfrm rot="0">
            <a:off x="12337133" y="964152"/>
            <a:ext cx="8940030" cy="8940030"/>
            <a:chOff x="0" y="0"/>
            <a:chExt cx="11920040" cy="1192004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11920093" cy="11920093"/>
            </a:xfrm>
            <a:custGeom>
              <a:avLst/>
              <a:gdLst/>
              <a:ahLst/>
              <a:cxnLst/>
              <a:rect l="l" t="t" r="r" b="b"/>
              <a:pathLst>
                <a:path w="11920093" h="11920093">
                  <a:moveTo>
                    <a:pt x="5959983" y="0"/>
                  </a:moveTo>
                  <a:lnTo>
                    <a:pt x="11920093" y="5959983"/>
                  </a:lnTo>
                  <a:lnTo>
                    <a:pt x="5959983" y="11920093"/>
                  </a:lnTo>
                  <a:lnTo>
                    <a:pt x="0" y="5959983"/>
                  </a:lnTo>
                  <a:lnTo>
                    <a:pt x="5959983" y="0"/>
                  </a:lnTo>
                  <a:close/>
                </a:path>
              </a:pathLst>
            </a:custGeom>
            <a:blipFill>
              <a:blip r:embed="rId2"/>
              <a:stretch>
                <a:fillRect l="-24999" r="-24999"/>
              </a:stretch>
            </a:blipFill>
          </p:spPr>
        </p:sp>
      </p:grpSp>
      <p:grpSp>
        <p:nvGrpSpPr>
          <p:cNvPr id="6" name="Group 6"/>
          <p:cNvGrpSpPr/>
          <p:nvPr/>
        </p:nvGrpSpPr>
        <p:grpSpPr>
          <a:xfrm rot="0">
            <a:off x="7550451" y="5733864"/>
            <a:ext cx="8940030" cy="8940030"/>
            <a:chOff x="0" y="0"/>
            <a:chExt cx="11920040" cy="1192004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1920093" cy="11920093"/>
            </a:xfrm>
            <a:custGeom>
              <a:avLst/>
              <a:gdLst/>
              <a:ahLst/>
              <a:cxnLst/>
              <a:rect l="l" t="t" r="r" b="b"/>
              <a:pathLst>
                <a:path w="11920093" h="11920093">
                  <a:moveTo>
                    <a:pt x="5959983" y="0"/>
                  </a:moveTo>
                  <a:lnTo>
                    <a:pt x="11920093" y="5959983"/>
                  </a:lnTo>
                  <a:lnTo>
                    <a:pt x="5959983" y="11920093"/>
                  </a:lnTo>
                  <a:lnTo>
                    <a:pt x="0" y="5959983"/>
                  </a:lnTo>
                  <a:lnTo>
                    <a:pt x="5959983" y="0"/>
                  </a:lnTo>
                  <a:close/>
                </a:path>
              </a:pathLst>
            </a:custGeom>
            <a:blipFill>
              <a:blip r:embed="rId3"/>
              <a:stretch>
                <a:fillRect l="-24906" r="-24906"/>
              </a:stretch>
            </a:blipFill>
          </p:spPr>
        </p:sp>
      </p:grpSp>
      <p:sp>
        <p:nvSpPr>
          <p:cNvPr id="8" name="Freeform 8"/>
          <p:cNvSpPr/>
          <p:nvPr/>
        </p:nvSpPr>
        <p:spPr>
          <a:xfrm>
            <a:off x="-1370943" y="9624928"/>
            <a:ext cx="19658943" cy="776130"/>
          </a:xfrm>
          <a:custGeom>
            <a:avLst/>
            <a:gdLst/>
            <a:ahLst/>
            <a:cxnLst/>
            <a:rect l="l" t="t" r="r" b="b"/>
            <a:pathLst>
              <a:path w="19658943" h="776130">
                <a:moveTo>
                  <a:pt x="0" y="0"/>
                </a:moveTo>
                <a:lnTo>
                  <a:pt x="19658943" y="0"/>
                </a:lnTo>
                <a:lnTo>
                  <a:pt x="19658943" y="776130"/>
                </a:lnTo>
                <a:lnTo>
                  <a:pt x="0" y="77613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>
            <a:off x="16324744" y="8323744"/>
            <a:ext cx="3926512" cy="3926512"/>
          </a:xfrm>
          <a:custGeom>
            <a:avLst/>
            <a:gdLst/>
            <a:ahLst/>
            <a:cxnLst/>
            <a:rect l="l" t="t" r="r" b="b"/>
            <a:pathLst>
              <a:path w="3926512" h="3926512">
                <a:moveTo>
                  <a:pt x="0" y="0"/>
                </a:moveTo>
                <a:lnTo>
                  <a:pt x="3926512" y="0"/>
                </a:lnTo>
                <a:lnTo>
                  <a:pt x="3926512" y="3926512"/>
                </a:lnTo>
                <a:lnTo>
                  <a:pt x="0" y="392651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10" name="TextBox 10"/>
          <p:cNvSpPr txBox="1"/>
          <p:nvPr/>
        </p:nvSpPr>
        <p:spPr>
          <a:xfrm>
            <a:off x="1028700" y="786033"/>
            <a:ext cx="9760645" cy="9259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570"/>
              </a:lnSpc>
            </a:pPr>
            <a:r>
              <a:rPr lang="en-US" sz="6760">
                <a:solidFill>
                  <a:srgbClr val="000000"/>
                </a:solidFill>
                <a:latin typeface="Oswald" panose="00000500000000000000"/>
                <a:ea typeface="Oswald" panose="00000500000000000000"/>
                <a:cs typeface="Oswald" panose="00000500000000000000"/>
                <a:sym typeface="Oswald" panose="00000500000000000000"/>
              </a:rPr>
              <a:t>Innovation &amp; Professionalism</a:t>
            </a:r>
            <a:endParaRPr lang="en-US" sz="6760">
              <a:solidFill>
                <a:srgbClr val="000000"/>
              </a:solidFill>
              <a:latin typeface="Oswald" panose="00000500000000000000"/>
              <a:ea typeface="Oswald" panose="00000500000000000000"/>
              <a:cs typeface="Oswald" panose="00000500000000000000"/>
              <a:sym typeface="Oswald" panose="00000500000000000000"/>
            </a:endParaRPr>
          </a:p>
        </p:txBody>
      </p:sp>
      <p:sp>
        <p:nvSpPr>
          <p:cNvPr id="11" name="TextBox 11"/>
          <p:cNvSpPr txBox="1"/>
          <p:nvPr/>
        </p:nvSpPr>
        <p:spPr>
          <a:xfrm>
            <a:off x="614987" y="2267082"/>
            <a:ext cx="9144000" cy="44316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56590" lvl="2" indent="-219075" algn="l">
              <a:lnSpc>
                <a:spcPts val="4320"/>
              </a:lnSpc>
              <a:buFont typeface="Arial" panose="020B0604020202020204"/>
              <a:buChar char="⚬"/>
            </a:pPr>
            <a:r>
              <a:rPr lang="en-US" sz="2400" b="1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Uniqueness:</a:t>
            </a:r>
            <a:r>
              <a:rPr lang="en-US" sz="240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 Combined inbound &amp;  outbound shipment handling, automated logs, error prevention.</a:t>
            </a:r>
            <a:endParaRPr lang="en-US" sz="2400">
              <a:solidFill>
                <a:srgbClr val="000000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656590" lvl="2" indent="-219075" algn="l">
              <a:lnSpc>
                <a:spcPts val="4320"/>
              </a:lnSpc>
              <a:buFont typeface="Arial" panose="020B0604020202020204"/>
              <a:buChar char="⚬"/>
            </a:pPr>
            <a:r>
              <a:rPr lang="en-US" sz="2400" b="1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Scalability:</a:t>
            </a:r>
            <a:r>
              <a:rPr lang="en-US" sz="240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 Structure support future integration (e.g. analytics, REST APIs)</a:t>
            </a:r>
            <a:endParaRPr lang="en-US" sz="2400">
              <a:solidFill>
                <a:srgbClr val="000000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656590" lvl="2" indent="-219075" algn="l">
              <a:lnSpc>
                <a:spcPts val="4320"/>
              </a:lnSpc>
              <a:buFont typeface="Arial" panose="020B0604020202020204"/>
              <a:buChar char="⚬"/>
            </a:pPr>
            <a:r>
              <a:rPr lang="en-US" sz="2400" b="1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Industry relevance:</a:t>
            </a:r>
            <a:r>
              <a:rPr lang="en-US" sz="240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 Inventory + supply chain is a real world problem every business faces.</a:t>
            </a:r>
            <a:endParaRPr lang="en-US" sz="2400">
              <a:solidFill>
                <a:srgbClr val="000000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656590" lvl="2" indent="-219075" algn="l">
              <a:lnSpc>
                <a:spcPts val="4320"/>
              </a:lnSpc>
              <a:buFont typeface="Arial" panose="020B0604020202020204"/>
              <a:buChar char="⚬"/>
            </a:pPr>
            <a:r>
              <a:rPr lang="en-US" sz="2400" b="1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Highlight:</a:t>
            </a:r>
            <a:r>
              <a:rPr lang="en-US" sz="240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 “We designed it like an actual enterprise-grade system not just a student project.”</a:t>
            </a:r>
            <a:endParaRPr lang="en-US" sz="2400">
              <a:solidFill>
                <a:srgbClr val="000000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1370943" y="9624928"/>
            <a:ext cx="19658943" cy="776130"/>
          </a:xfrm>
          <a:custGeom>
            <a:avLst/>
            <a:gdLst/>
            <a:ahLst/>
            <a:cxnLst/>
            <a:rect l="l" t="t" r="r" b="b"/>
            <a:pathLst>
              <a:path w="19658943" h="776130">
                <a:moveTo>
                  <a:pt x="0" y="0"/>
                </a:moveTo>
                <a:lnTo>
                  <a:pt x="19658943" y="0"/>
                </a:lnTo>
                <a:lnTo>
                  <a:pt x="19658943" y="776130"/>
                </a:lnTo>
                <a:lnTo>
                  <a:pt x="0" y="776130"/>
                </a:lnTo>
                <a:lnTo>
                  <a:pt x="0" y="0"/>
                </a:lnTo>
                <a:close/>
              </a:path>
            </a:pathLst>
          </a:custGeom>
          <a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6324744" y="8323744"/>
            <a:ext cx="3926512" cy="3926512"/>
          </a:xfrm>
          <a:custGeom>
            <a:avLst/>
            <a:gdLst/>
            <a:ahLst/>
            <a:cxnLst/>
            <a:rect l="l" t="t" r="r" b="b"/>
            <a:pathLst>
              <a:path w="3926512" h="3926512">
                <a:moveTo>
                  <a:pt x="0" y="0"/>
                </a:moveTo>
                <a:lnTo>
                  <a:pt x="3926512" y="0"/>
                </a:lnTo>
                <a:lnTo>
                  <a:pt x="3926512" y="3926512"/>
                </a:lnTo>
                <a:lnTo>
                  <a:pt x="0" y="392651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1458488" y="1028700"/>
            <a:ext cx="15371023" cy="7589443"/>
          </a:xfrm>
          <a:custGeom>
            <a:avLst/>
            <a:gdLst/>
            <a:ahLst/>
            <a:cxnLst/>
            <a:rect l="l" t="t" r="r" b="b"/>
            <a:pathLst>
              <a:path w="15371023" h="7589443">
                <a:moveTo>
                  <a:pt x="0" y="0"/>
                </a:moveTo>
                <a:lnTo>
                  <a:pt x="15371023" y="0"/>
                </a:lnTo>
                <a:lnTo>
                  <a:pt x="15371023" y="7589443"/>
                </a:lnTo>
                <a:lnTo>
                  <a:pt x="0" y="7589443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t="-68" b="-68"/>
            </a:stretch>
          </a:blipFill>
        </p:spPr>
      </p:sp>
      <p:sp>
        <p:nvSpPr>
          <p:cNvPr id="5" name="TextBox 5"/>
          <p:cNvSpPr txBox="1"/>
          <p:nvPr/>
        </p:nvSpPr>
        <p:spPr>
          <a:xfrm>
            <a:off x="7899115" y="3931839"/>
            <a:ext cx="2489769" cy="18784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570"/>
              </a:lnSpc>
            </a:pPr>
            <a:r>
              <a:rPr lang="en-US" sz="6760">
                <a:solidFill>
                  <a:srgbClr val="000000"/>
                </a:solidFill>
                <a:latin typeface="Oswald" panose="00000500000000000000"/>
                <a:ea typeface="Oswald" panose="00000500000000000000"/>
                <a:cs typeface="Oswald" panose="00000500000000000000"/>
                <a:sym typeface="Oswald" panose="00000500000000000000"/>
              </a:rPr>
              <a:t>Feature Scope</a:t>
            </a:r>
            <a:endParaRPr lang="en-US" sz="6760">
              <a:solidFill>
                <a:srgbClr val="000000"/>
              </a:solidFill>
              <a:latin typeface="Oswald" panose="00000500000000000000"/>
              <a:ea typeface="Oswald" panose="00000500000000000000"/>
              <a:cs typeface="Oswald" panose="00000500000000000000"/>
              <a:sym typeface="Oswald" panose="00000500000000000000"/>
            </a:endParaRPr>
          </a:p>
        </p:txBody>
      </p:sp>
      <p:sp>
        <p:nvSpPr>
          <p:cNvPr id="6" name="TextBox 6"/>
          <p:cNvSpPr txBox="1"/>
          <p:nvPr/>
        </p:nvSpPr>
        <p:spPr>
          <a:xfrm>
            <a:off x="1676377" y="1312968"/>
            <a:ext cx="5344051" cy="14014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760"/>
              </a:lnSpc>
            </a:pPr>
            <a:r>
              <a:rPr lang="en-US" sz="240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Add analytics &amp; forecasting using historical data</a:t>
            </a:r>
            <a:endParaRPr lang="en-US" sz="2400">
              <a:solidFill>
                <a:srgbClr val="000000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7" name="TextBox 7"/>
          <p:cNvSpPr txBox="1"/>
          <p:nvPr/>
        </p:nvSpPr>
        <p:spPr>
          <a:xfrm>
            <a:off x="1936892" y="6849046"/>
            <a:ext cx="4722691" cy="12477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310"/>
              </a:lnSpc>
            </a:pPr>
            <a:r>
              <a:rPr lang="en-US" sz="240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Role based dashboards (admin, staff)</a:t>
            </a:r>
            <a:endParaRPr lang="en-US" sz="2400">
              <a:solidFill>
                <a:srgbClr val="000000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8" name="TextBox 8"/>
          <p:cNvSpPr txBox="1"/>
          <p:nvPr/>
        </p:nvSpPr>
        <p:spPr>
          <a:xfrm>
            <a:off x="11231176" y="1228513"/>
            <a:ext cx="5454270" cy="14014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760"/>
              </a:lnSpc>
            </a:pPr>
            <a:r>
              <a:rPr lang="en-US" sz="240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Integration with cloud (Oracle APEX or Node.js backend)</a:t>
            </a:r>
            <a:endParaRPr lang="en-US" sz="2400">
              <a:solidFill>
                <a:srgbClr val="000000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9" name="TextBox 9"/>
          <p:cNvSpPr txBox="1"/>
          <p:nvPr/>
        </p:nvSpPr>
        <p:spPr>
          <a:xfrm>
            <a:off x="10657322" y="7057897"/>
            <a:ext cx="6601978" cy="7912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760"/>
              </a:lnSpc>
            </a:pPr>
            <a:r>
              <a:rPr lang="en-US" sz="240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Mobile friendly interfaces</a:t>
            </a:r>
            <a:endParaRPr lang="en-US" sz="2400">
              <a:solidFill>
                <a:srgbClr val="000000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750">
        <p159:morph option="byObject"/>
      </p:transition>
    </mc:Choice>
    <mc:Fallback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1370943" y="9624928"/>
            <a:ext cx="19658943" cy="776130"/>
          </a:xfrm>
          <a:custGeom>
            <a:avLst/>
            <a:gdLst/>
            <a:ahLst/>
            <a:cxnLst/>
            <a:rect l="l" t="t" r="r" b="b"/>
            <a:pathLst>
              <a:path w="19658943" h="776130">
                <a:moveTo>
                  <a:pt x="0" y="0"/>
                </a:moveTo>
                <a:lnTo>
                  <a:pt x="19658943" y="0"/>
                </a:lnTo>
                <a:lnTo>
                  <a:pt x="19658943" y="776130"/>
                </a:lnTo>
                <a:lnTo>
                  <a:pt x="0" y="776130"/>
                </a:lnTo>
                <a:lnTo>
                  <a:pt x="0" y="0"/>
                </a:lnTo>
                <a:close/>
              </a:path>
            </a:pathLst>
          </a:custGeom>
          <a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6324744" y="8323744"/>
            <a:ext cx="3926512" cy="3926512"/>
          </a:xfrm>
          <a:custGeom>
            <a:avLst/>
            <a:gdLst/>
            <a:ahLst/>
            <a:cxnLst/>
            <a:rect l="l" t="t" r="r" b="b"/>
            <a:pathLst>
              <a:path w="3926512" h="3926512">
                <a:moveTo>
                  <a:pt x="0" y="0"/>
                </a:moveTo>
                <a:lnTo>
                  <a:pt x="3926512" y="0"/>
                </a:lnTo>
                <a:lnTo>
                  <a:pt x="3926512" y="3926512"/>
                </a:lnTo>
                <a:lnTo>
                  <a:pt x="0" y="392651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grpSp>
        <p:nvGrpSpPr>
          <p:cNvPr id="4" name="Group 4"/>
          <p:cNvGrpSpPr/>
          <p:nvPr/>
        </p:nvGrpSpPr>
        <p:grpSpPr>
          <a:xfrm rot="0">
            <a:off x="11246765" y="-765197"/>
            <a:ext cx="7393916" cy="7108790"/>
            <a:chOff x="0" y="0"/>
            <a:chExt cx="9858555" cy="9478387"/>
          </a:xfrm>
        </p:grpSpPr>
        <p:sp>
          <p:nvSpPr>
            <p:cNvPr id="5" name="Freeform 5"/>
            <p:cNvSpPr/>
            <p:nvPr/>
          </p:nvSpPr>
          <p:spPr>
            <a:xfrm flipV="1">
              <a:off x="0" y="0"/>
              <a:ext cx="9858502" cy="9478391"/>
            </a:xfrm>
            <a:custGeom>
              <a:avLst/>
              <a:gdLst/>
              <a:ahLst/>
              <a:cxnLst/>
              <a:rect l="l" t="t" r="r" b="b"/>
              <a:pathLst>
                <a:path w="9858502" h="9478391">
                  <a:moveTo>
                    <a:pt x="0" y="9478391"/>
                  </a:moveTo>
                  <a:lnTo>
                    <a:pt x="9858502" y="9478391"/>
                  </a:lnTo>
                  <a:lnTo>
                    <a:pt x="9858502" y="0"/>
                  </a:lnTo>
                  <a:lnTo>
                    <a:pt x="0" y="0"/>
                  </a:lnTo>
                  <a:lnTo>
                    <a:pt x="0" y="9478391"/>
                  </a:lnTo>
                  <a:close/>
                </a:path>
              </a:pathLst>
            </a:custGeom>
            <a:blipFill>
              <a:blip r:embed="rId5"/>
              <a:stretch>
                <a:fillRect l="-22107" r="-22108"/>
              </a:stretch>
            </a:blipFill>
          </p:spPr>
        </p:sp>
      </p:grpSp>
      <p:sp>
        <p:nvSpPr>
          <p:cNvPr id="6" name="Freeform 6"/>
          <p:cNvSpPr/>
          <p:nvPr/>
        </p:nvSpPr>
        <p:spPr>
          <a:xfrm>
            <a:off x="12778031" y="1410161"/>
            <a:ext cx="3546713" cy="3546713"/>
          </a:xfrm>
          <a:custGeom>
            <a:avLst/>
            <a:gdLst/>
            <a:ahLst/>
            <a:cxnLst/>
            <a:rect l="l" t="t" r="r" b="b"/>
            <a:pathLst>
              <a:path w="3546713" h="3546713">
                <a:moveTo>
                  <a:pt x="0" y="0"/>
                </a:moveTo>
                <a:lnTo>
                  <a:pt x="3546713" y="0"/>
                </a:lnTo>
                <a:lnTo>
                  <a:pt x="3546713" y="3546713"/>
                </a:lnTo>
                <a:lnTo>
                  <a:pt x="0" y="3546713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 rot="-9973727">
            <a:off x="9324240" y="4271081"/>
            <a:ext cx="4259757" cy="4158588"/>
          </a:xfrm>
          <a:custGeom>
            <a:avLst/>
            <a:gdLst/>
            <a:ahLst/>
            <a:cxnLst/>
            <a:rect l="l" t="t" r="r" b="b"/>
            <a:pathLst>
              <a:path w="4259757" h="4158588">
                <a:moveTo>
                  <a:pt x="0" y="0"/>
                </a:moveTo>
                <a:lnTo>
                  <a:pt x="4259757" y="0"/>
                </a:lnTo>
                <a:lnTo>
                  <a:pt x="4259757" y="4158588"/>
                </a:lnTo>
                <a:lnTo>
                  <a:pt x="0" y="4158588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-41" r="-41"/>
            </a:stretch>
          </a:blipFill>
        </p:spPr>
      </p:sp>
      <p:sp>
        <p:nvSpPr>
          <p:cNvPr id="8" name="TextBox 8"/>
          <p:cNvSpPr txBox="1"/>
          <p:nvPr/>
        </p:nvSpPr>
        <p:spPr>
          <a:xfrm>
            <a:off x="13155255" y="2807220"/>
            <a:ext cx="2792266" cy="9396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785"/>
              </a:lnSpc>
            </a:pPr>
            <a:r>
              <a:rPr lang="en-US" sz="9550" b="1">
                <a:solidFill>
                  <a:srgbClr val="FFFFFF"/>
                </a:solidFill>
                <a:latin typeface="Oswald Bold" panose="00000800000000000000"/>
                <a:ea typeface="Oswald Bold" panose="00000800000000000000"/>
                <a:cs typeface="Oswald Bold" panose="00000800000000000000"/>
                <a:sym typeface="Oswald Bold" panose="00000800000000000000"/>
              </a:rPr>
              <a:t>Q&amp;A</a:t>
            </a:r>
            <a:endParaRPr lang="en-US" sz="9550" b="1">
              <a:solidFill>
                <a:srgbClr val="FFFFFF"/>
              </a:solidFill>
              <a:latin typeface="Oswald Bold" panose="00000800000000000000"/>
              <a:ea typeface="Oswald Bold" panose="00000800000000000000"/>
              <a:cs typeface="Oswald Bold" panose="00000800000000000000"/>
              <a:sym typeface="Oswald Bold" panose="00000800000000000000"/>
            </a:endParaRPr>
          </a:p>
        </p:txBody>
      </p:sp>
      <p:sp>
        <p:nvSpPr>
          <p:cNvPr id="9" name="Freeform 9"/>
          <p:cNvSpPr/>
          <p:nvPr/>
        </p:nvSpPr>
        <p:spPr>
          <a:xfrm>
            <a:off x="4435663" y="5000341"/>
            <a:ext cx="6083924" cy="1734113"/>
          </a:xfrm>
          <a:custGeom>
            <a:avLst/>
            <a:gdLst/>
            <a:ahLst/>
            <a:cxnLst/>
            <a:rect l="l" t="t" r="r" b="b"/>
            <a:pathLst>
              <a:path w="6083924" h="1734113">
                <a:moveTo>
                  <a:pt x="0" y="0"/>
                </a:moveTo>
                <a:lnTo>
                  <a:pt x="6083924" y="0"/>
                </a:lnTo>
                <a:lnTo>
                  <a:pt x="6083924" y="1734113"/>
                </a:lnTo>
                <a:lnTo>
                  <a:pt x="0" y="1734113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</p:sp>
      <p:sp>
        <p:nvSpPr>
          <p:cNvPr id="10" name="Freeform 10"/>
          <p:cNvSpPr/>
          <p:nvPr/>
        </p:nvSpPr>
        <p:spPr>
          <a:xfrm>
            <a:off x="4435663" y="6591295"/>
            <a:ext cx="6083924" cy="2036943"/>
          </a:xfrm>
          <a:custGeom>
            <a:avLst/>
            <a:gdLst/>
            <a:ahLst/>
            <a:cxnLst/>
            <a:rect l="l" t="t" r="r" b="b"/>
            <a:pathLst>
              <a:path w="6083924" h="2036943">
                <a:moveTo>
                  <a:pt x="0" y="0"/>
                </a:moveTo>
                <a:lnTo>
                  <a:pt x="6083924" y="0"/>
                </a:lnTo>
                <a:lnTo>
                  <a:pt x="6083924" y="2036943"/>
                </a:lnTo>
                <a:lnTo>
                  <a:pt x="0" y="2036943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a:blipFill>
        </p:spPr>
      </p:sp>
      <p:sp>
        <p:nvSpPr>
          <p:cNvPr id="11" name="TextBox 11"/>
          <p:cNvSpPr txBox="1"/>
          <p:nvPr/>
        </p:nvSpPr>
        <p:spPr>
          <a:xfrm>
            <a:off x="5136515" y="6355715"/>
            <a:ext cx="5410835" cy="10369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720"/>
              </a:lnSpc>
            </a:pPr>
            <a:r>
              <a:rPr lang="en-US" sz="10000">
                <a:solidFill>
                  <a:srgbClr val="000000"/>
                </a:solidFill>
                <a:latin typeface="Oswald" panose="00000500000000000000"/>
                <a:ea typeface="Oswald" panose="00000500000000000000"/>
                <a:cs typeface="Oswald" panose="00000500000000000000"/>
                <a:sym typeface="Oswald" panose="00000500000000000000"/>
              </a:rPr>
              <a:t>Thank You</a:t>
            </a:r>
            <a:endParaRPr lang="en-US" sz="10000">
              <a:solidFill>
                <a:srgbClr val="000000"/>
              </a:solidFill>
              <a:latin typeface="Oswald" panose="00000500000000000000"/>
              <a:ea typeface="Oswald" panose="00000500000000000000"/>
              <a:cs typeface="Oswald" panose="00000500000000000000"/>
              <a:sym typeface="Oswald" panose="00000500000000000000"/>
            </a:endParaRPr>
          </a:p>
        </p:txBody>
      </p:sp>
      <p:sp>
        <p:nvSpPr>
          <p:cNvPr id="12" name="Freeform 12"/>
          <p:cNvSpPr/>
          <p:nvPr/>
        </p:nvSpPr>
        <p:spPr>
          <a:xfrm>
            <a:off x="-210820" y="1057016"/>
            <a:ext cx="6761480" cy="1733809"/>
          </a:xfrm>
          <a:custGeom>
            <a:avLst/>
            <a:gdLst/>
            <a:ahLst/>
            <a:cxnLst/>
            <a:rect l="l" t="t" r="r" b="b"/>
            <a:pathLst>
              <a:path w="6761480" h="1733809">
                <a:moveTo>
                  <a:pt x="0" y="0"/>
                </a:moveTo>
                <a:lnTo>
                  <a:pt x="6761480" y="0"/>
                </a:lnTo>
                <a:lnTo>
                  <a:pt x="6761480" y="1733809"/>
                </a:lnTo>
                <a:lnTo>
                  <a:pt x="0" y="1733809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a:blipFill>
        </p:spPr>
      </p:sp>
      <p:sp>
        <p:nvSpPr>
          <p:cNvPr id="13" name="Freeform 13"/>
          <p:cNvSpPr/>
          <p:nvPr/>
        </p:nvSpPr>
        <p:spPr>
          <a:xfrm>
            <a:off x="-11430" y="2647679"/>
            <a:ext cx="6562090" cy="2617741"/>
          </a:xfrm>
          <a:custGeom>
            <a:avLst/>
            <a:gdLst/>
            <a:ahLst/>
            <a:cxnLst/>
            <a:rect l="l" t="t" r="r" b="b"/>
            <a:pathLst>
              <a:path w="6562090" h="2617741">
                <a:moveTo>
                  <a:pt x="0" y="0"/>
                </a:moveTo>
                <a:lnTo>
                  <a:pt x="6562090" y="0"/>
                </a:lnTo>
                <a:lnTo>
                  <a:pt x="6562090" y="2617741"/>
                </a:lnTo>
                <a:lnTo>
                  <a:pt x="0" y="2617741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/>
            </a:stretch>
          </a:blipFill>
        </p:spPr>
      </p:sp>
      <p:sp>
        <p:nvSpPr>
          <p:cNvPr id="14" name="TextBox 14"/>
          <p:cNvSpPr txBox="1"/>
          <p:nvPr/>
        </p:nvSpPr>
        <p:spPr>
          <a:xfrm>
            <a:off x="2403475" y="1782445"/>
            <a:ext cx="4650105" cy="4775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50"/>
              </a:lnSpc>
            </a:pPr>
            <a:r>
              <a:rPr lang="en-US" sz="3600">
                <a:solidFill>
                  <a:srgbClr val="000000"/>
                </a:solidFill>
                <a:latin typeface="Oswald" panose="00000500000000000000"/>
                <a:ea typeface="Oswald" panose="00000500000000000000"/>
                <a:cs typeface="Oswald" panose="00000500000000000000"/>
                <a:sym typeface="Oswald" panose="00000500000000000000"/>
              </a:rPr>
              <a:t>Conclusion</a:t>
            </a:r>
            <a:endParaRPr lang="en-US" sz="3600">
              <a:solidFill>
                <a:srgbClr val="000000"/>
              </a:solidFill>
              <a:latin typeface="Oswald" panose="00000500000000000000"/>
              <a:ea typeface="Oswald" panose="00000500000000000000"/>
              <a:cs typeface="Oswald" panose="00000500000000000000"/>
              <a:sym typeface="Oswald" panose="00000500000000000000"/>
            </a:endParaRPr>
          </a:p>
        </p:txBody>
      </p:sp>
      <p:sp>
        <p:nvSpPr>
          <p:cNvPr id="15" name="TextBox 15"/>
          <p:cNvSpPr txBox="1"/>
          <p:nvPr/>
        </p:nvSpPr>
        <p:spPr>
          <a:xfrm>
            <a:off x="1120775" y="3195955"/>
            <a:ext cx="4889500" cy="14878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670"/>
              </a:lnSpc>
            </a:pPr>
            <a:r>
              <a:rPr lang="en-US" sz="240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Our system already work like a real solution and has a clear groethpath</a:t>
            </a:r>
            <a:endParaRPr lang="en-US" sz="2400">
              <a:solidFill>
                <a:srgbClr val="000000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grpSp>
        <p:nvGrpSpPr>
          <p:cNvPr id="16" name="Group 16"/>
          <p:cNvGrpSpPr/>
          <p:nvPr/>
        </p:nvGrpSpPr>
        <p:grpSpPr>
          <a:xfrm rot="0">
            <a:off x="9335423" y="1189144"/>
            <a:ext cx="1055985" cy="1994373"/>
            <a:chOff x="0" y="0"/>
            <a:chExt cx="1407980" cy="2659164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1407922" cy="2659126"/>
            </a:xfrm>
            <a:custGeom>
              <a:avLst/>
              <a:gdLst/>
              <a:ahLst/>
              <a:cxnLst/>
              <a:rect l="l" t="t" r="r" b="b"/>
              <a:pathLst>
                <a:path w="1407922" h="2659126">
                  <a:moveTo>
                    <a:pt x="0" y="0"/>
                  </a:moveTo>
                  <a:lnTo>
                    <a:pt x="1407922" y="0"/>
                  </a:lnTo>
                  <a:lnTo>
                    <a:pt x="1407922" y="2659126"/>
                  </a:lnTo>
                  <a:lnTo>
                    <a:pt x="0" y="265912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8"/>
              <a:stretch>
                <a:fillRect l="-249852" r="-249856" b="-1"/>
              </a:stretch>
            </a:blipFill>
          </p:spPr>
        </p:sp>
      </p:grp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2764</Words>
  <Application>WPS Presentation</Application>
  <PresentationFormat>On-screen Show (4:3)</PresentationFormat>
  <Paragraphs>116</Paragraphs>
  <Slides>15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15</vt:i4>
      </vt:variant>
    </vt:vector>
  </HeadingPairs>
  <TitlesOfParts>
    <vt:vector size="28" baseType="lpstr">
      <vt:lpstr>Arial</vt:lpstr>
      <vt:lpstr>SimSun</vt:lpstr>
      <vt:lpstr>Wingdings</vt:lpstr>
      <vt:lpstr>Oswald Bold</vt:lpstr>
      <vt:lpstr>Oswald</vt:lpstr>
      <vt:lpstr>DM Sans Bold</vt:lpstr>
      <vt:lpstr>DM Sans</vt:lpstr>
      <vt:lpstr>Arial</vt:lpstr>
      <vt:lpstr>Microsoft YaHei</vt:lpstr>
      <vt:lpstr>Arial Unicode MS</vt:lpstr>
      <vt:lpstr>Calibri</vt:lpstr>
      <vt:lpstr>Calibri Light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Orange And White Modern Innovative Supply Chain Management Presentation (1).pptx</dc:title>
  <dc:creator/>
  <cp:lastModifiedBy>User</cp:lastModifiedBy>
  <cp:revision>3</cp:revision>
  <dcterms:created xsi:type="dcterms:W3CDTF">2006-08-16T00:00:00Z</dcterms:created>
  <dcterms:modified xsi:type="dcterms:W3CDTF">2025-09-09T16:48:51Z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6BB02C77134E4AFEA295EE31A23DDBDC_12</vt:lpwstr>
  </property>
  <property fmtid="{D5CDD505-2E9C-101B-9397-08002B2CF9AE}" pid="3" name="KSOProductBuildVer">
    <vt:lpwstr>2057-12.2.0.21936</vt:lpwstr>
  </property>
</Properties>
</file>